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Arimo Bold" panose="020B0604020202020204" charset="0"/>
      <p:regular r:id="rId16"/>
    </p:embeddedFont>
    <p:embeddedFont>
      <p:font typeface="Bricolage Grotesque" panose="020B0604020202020204" charset="0"/>
      <p:regular r:id="rId17"/>
    </p:embeddedFont>
    <p:embeddedFont>
      <p:font typeface="DejaVu Serif Bold" panose="020B0604020202020204" charset="0"/>
      <p:regular r:id="rId18"/>
    </p:embeddedFont>
    <p:embeddedFont>
      <p:font typeface="Montserrat" panose="00000500000000000000" pitchFamily="2" charset="0"/>
      <p:regular r:id="rId19"/>
      <p:bold r:id="rId20"/>
      <p:italic r:id="rId21"/>
      <p:boldItalic r:id="rId22"/>
    </p:embeddedFont>
    <p:embeddedFont>
      <p:font typeface="Montserrat Bold" panose="00000800000000000000" pitchFamily="2" charset="0"/>
      <p:regular r:id="rId23"/>
      <p:bold r:id="rId24"/>
    </p:embeddedFont>
    <p:embeddedFont>
      <p:font typeface="Roboto Bold" panose="02000000000000000000" pitchFamily="2" charset="0"/>
      <p:regular r:id="rId25"/>
      <p:bold r:id="rId26"/>
    </p:embeddedFont>
    <p:embeddedFont>
      <p:font typeface="Times New Roman Bold" panose="02020803070505020304" pitchFamily="18" charset="0"/>
      <p:regular r:id="rId27"/>
      <p:bold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EC942B-DE69-0463-70AC-D40D784F4995}" v="1" dt="2025-09-01T14:23:56.1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01.09.2025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4.svg"/><Relationship Id="rId5" Type="http://schemas.openxmlformats.org/officeDocument/2006/relationships/image" Target="../media/image17.png"/><Relationship Id="rId10" Type="http://schemas.openxmlformats.org/officeDocument/2006/relationships/image" Target="../media/image3.png"/><Relationship Id="rId4" Type="http://schemas.openxmlformats.org/officeDocument/2006/relationships/image" Target="../media/image16.svg"/><Relationship Id="rId9"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3.png"/><Relationship Id="rId7"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1.sv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4.svg"/><Relationship Id="rId9" Type="http://schemas.openxmlformats.org/officeDocument/2006/relationships/image" Target="../media/image34.png"/></Relationships>
</file>

<file path=ppt/slides/_rels/slide1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png"/><Relationship Id="rId7" Type="http://schemas.openxmlformats.org/officeDocument/2006/relationships/image" Target="../media/image39.png"/><Relationship Id="rId12" Type="http://schemas.openxmlformats.org/officeDocument/2006/relationships/image" Target="../media/image44.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4.svg"/><Relationship Id="rId9" Type="http://schemas.openxmlformats.org/officeDocument/2006/relationships/image" Target="../media/image41.sv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48.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svg"/><Relationship Id="rId4" Type="http://schemas.openxmlformats.org/officeDocument/2006/relationships/image" Target="../media/image45.png"/></Relationships>
</file>

<file path=ppt/slides/_rels/slide1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50.svg"/></Relationships>
</file>

<file path=ppt/slides/_rels/slide13.xml.rels><?xml version="1.0" encoding="UTF-8" standalone="yes"?>
<Relationships xmlns="http://schemas.openxmlformats.org/package/2006/relationships"><Relationship Id="rId3" Type="http://schemas.openxmlformats.org/officeDocument/2006/relationships/image" Target="../media/image52.svg"/><Relationship Id="rId7" Type="http://schemas.openxmlformats.org/officeDocument/2006/relationships/image" Target="../media/image2.svg"/><Relationship Id="rId2" Type="http://schemas.openxmlformats.org/officeDocument/2006/relationships/image" Target="../media/image51.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6933389" y="7089843"/>
            <a:ext cx="4421221" cy="4421221"/>
          </a:xfrm>
          <a:custGeom>
            <a:avLst/>
            <a:gdLst/>
            <a:ahLst/>
            <a:cxnLst/>
            <a:rect l="l" t="t" r="r" b="b"/>
            <a:pathLst>
              <a:path w="4421221" h="4421221">
                <a:moveTo>
                  <a:pt x="0" y="0"/>
                </a:moveTo>
                <a:lnTo>
                  <a:pt x="4421221" y="0"/>
                </a:lnTo>
                <a:lnTo>
                  <a:pt x="4421221" y="4421221"/>
                </a:lnTo>
                <a:lnTo>
                  <a:pt x="0" y="44212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0" y="6310191"/>
            <a:ext cx="7315200" cy="3976809"/>
          </a:xfrm>
          <a:custGeom>
            <a:avLst/>
            <a:gdLst/>
            <a:ahLst/>
            <a:cxnLst/>
            <a:rect l="l" t="t" r="r" b="b"/>
            <a:pathLst>
              <a:path w="7315200" h="3976809">
                <a:moveTo>
                  <a:pt x="0" y="0"/>
                </a:moveTo>
                <a:lnTo>
                  <a:pt x="7315200" y="0"/>
                </a:lnTo>
                <a:lnTo>
                  <a:pt x="7315200" y="3976809"/>
                </a:lnTo>
                <a:lnTo>
                  <a:pt x="0" y="3976809"/>
                </a:lnTo>
                <a:lnTo>
                  <a:pt x="0" y="0"/>
                </a:lnTo>
                <a:close/>
              </a:path>
            </a:pathLst>
          </a:custGeom>
          <a:blipFill>
            <a:blip r:embed="rId5">
              <a:extLst>
                <a:ext uri="{96DAC541-7B7A-43D3-8B79-37D633B846F1}">
                  <asvg:svgBlip xmlns:asvg="http://schemas.microsoft.com/office/drawing/2016/SVG/main" r:embed="rId6"/>
                </a:ext>
              </a:extLst>
            </a:blip>
            <a:stretch>
              <a:fillRect t="-297" b="-297"/>
            </a:stretch>
          </a:blipFill>
        </p:spPr>
        <p:txBody>
          <a:bodyPr/>
          <a:lstStyle/>
          <a:p>
            <a:endParaRPr lang="en-US"/>
          </a:p>
        </p:txBody>
      </p:sp>
      <p:sp>
        <p:nvSpPr>
          <p:cNvPr id="4" name="Freeform 4"/>
          <p:cNvSpPr/>
          <p:nvPr/>
        </p:nvSpPr>
        <p:spPr>
          <a:xfrm rot="-5400000" flipH="1" flipV="1">
            <a:off x="6933389" y="0"/>
            <a:ext cx="4421221" cy="4421221"/>
          </a:xfrm>
          <a:custGeom>
            <a:avLst/>
            <a:gdLst/>
            <a:ahLst/>
            <a:cxnLst/>
            <a:rect l="l" t="t" r="r" b="b"/>
            <a:pathLst>
              <a:path w="4421221" h="4421221">
                <a:moveTo>
                  <a:pt x="4421221" y="4421221"/>
                </a:moveTo>
                <a:lnTo>
                  <a:pt x="0" y="4421221"/>
                </a:lnTo>
                <a:lnTo>
                  <a:pt x="0" y="0"/>
                </a:lnTo>
                <a:lnTo>
                  <a:pt x="4421221" y="0"/>
                </a:lnTo>
                <a:lnTo>
                  <a:pt x="4421221" y="4421221"/>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4382302" y="3253683"/>
            <a:ext cx="9523396" cy="2453730"/>
          </a:xfrm>
          <a:prstGeom prst="rect">
            <a:avLst/>
          </a:prstGeom>
        </p:spPr>
        <p:txBody>
          <a:bodyPr lIns="0" tIns="0" rIns="0" bIns="0" rtlCol="0" anchor="t">
            <a:spAutoFit/>
          </a:bodyPr>
          <a:lstStyle/>
          <a:p>
            <a:pPr algn="ctr">
              <a:lnSpc>
                <a:spcPts val="19622"/>
              </a:lnSpc>
            </a:pPr>
            <a:r>
              <a:rPr lang="en-US" sz="14015" b="1" spc="-560">
                <a:solidFill>
                  <a:srgbClr val="D322FF"/>
                </a:solidFill>
                <a:latin typeface="Arimo Bold"/>
                <a:ea typeface="Arimo Bold"/>
                <a:cs typeface="Arimo Bold"/>
                <a:sym typeface="Arimo Bold"/>
              </a:rPr>
              <a:t>ShopEase</a:t>
            </a:r>
          </a:p>
        </p:txBody>
      </p:sp>
      <p:sp>
        <p:nvSpPr>
          <p:cNvPr id="6" name="TextBox 6"/>
          <p:cNvSpPr txBox="1"/>
          <p:nvPr/>
        </p:nvSpPr>
        <p:spPr>
          <a:xfrm>
            <a:off x="6560499" y="5803054"/>
            <a:ext cx="5167001" cy="629564"/>
          </a:xfrm>
          <a:prstGeom prst="rect">
            <a:avLst/>
          </a:prstGeom>
        </p:spPr>
        <p:txBody>
          <a:bodyPr lIns="0" tIns="0" rIns="0" bIns="0" rtlCol="0" anchor="t">
            <a:spAutoFit/>
          </a:bodyPr>
          <a:lstStyle/>
          <a:p>
            <a:pPr algn="ctr">
              <a:lnSpc>
                <a:spcPts val="5196"/>
              </a:lnSpc>
            </a:pPr>
            <a:r>
              <a:rPr lang="en-US" sz="3711" spc="-148">
                <a:solidFill>
                  <a:srgbClr val="000000"/>
                </a:solidFill>
                <a:latin typeface="Bricolage Grotesque"/>
                <a:ea typeface="Bricolage Grotesque"/>
                <a:cs typeface="Bricolage Grotesque"/>
                <a:sym typeface="Bricolage Grotesque"/>
              </a:rPr>
              <a:t>Giyim E-Ticaret Platformu</a:t>
            </a:r>
          </a:p>
        </p:txBody>
      </p:sp>
      <p:sp>
        <p:nvSpPr>
          <p:cNvPr id="7" name="Freeform 7"/>
          <p:cNvSpPr/>
          <p:nvPr/>
        </p:nvSpPr>
        <p:spPr>
          <a:xfrm flipH="1">
            <a:off x="10972800" y="6310191"/>
            <a:ext cx="7315200" cy="3976809"/>
          </a:xfrm>
          <a:custGeom>
            <a:avLst/>
            <a:gdLst/>
            <a:ahLst/>
            <a:cxnLst/>
            <a:rect l="l" t="t" r="r" b="b"/>
            <a:pathLst>
              <a:path w="7315200" h="3976809">
                <a:moveTo>
                  <a:pt x="7315200" y="0"/>
                </a:moveTo>
                <a:lnTo>
                  <a:pt x="0" y="0"/>
                </a:lnTo>
                <a:lnTo>
                  <a:pt x="0" y="3976809"/>
                </a:lnTo>
                <a:lnTo>
                  <a:pt x="7315200" y="3976809"/>
                </a:lnTo>
                <a:lnTo>
                  <a:pt x="7315200" y="0"/>
                </a:lnTo>
                <a:close/>
              </a:path>
            </a:pathLst>
          </a:custGeom>
          <a:blipFill>
            <a:blip r:embed="rId5">
              <a:extLst>
                <a:ext uri="{96DAC541-7B7A-43D3-8B79-37D633B846F1}">
                  <asvg:svgBlip xmlns:asvg="http://schemas.microsoft.com/office/drawing/2016/SVG/main" r:embed="rId6"/>
                </a:ext>
              </a:extLst>
            </a:blip>
            <a:stretch>
              <a:fillRect t="-297" b="-297"/>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898322">
            <a:off x="-1209099" y="7386881"/>
            <a:ext cx="4891502" cy="4903762"/>
            <a:chOff x="0" y="0"/>
            <a:chExt cx="6522003" cy="6538349"/>
          </a:xfrm>
        </p:grpSpPr>
        <p:sp>
          <p:nvSpPr>
            <p:cNvPr id="3" name="Freeform 3"/>
            <p:cNvSpPr/>
            <p:nvPr/>
          </p:nvSpPr>
          <p:spPr>
            <a:xfrm>
              <a:off x="0" y="0"/>
              <a:ext cx="6521958" cy="6538341"/>
            </a:xfrm>
            <a:custGeom>
              <a:avLst/>
              <a:gdLst/>
              <a:ahLst/>
              <a:cxnLst/>
              <a:rect l="l" t="t" r="r" b="b"/>
              <a:pathLst>
                <a:path w="6521958" h="6538341">
                  <a:moveTo>
                    <a:pt x="0" y="0"/>
                  </a:moveTo>
                  <a:lnTo>
                    <a:pt x="6521958" y="0"/>
                  </a:lnTo>
                  <a:lnTo>
                    <a:pt x="6521958" y="6538341"/>
                  </a:lnTo>
                  <a:lnTo>
                    <a:pt x="0" y="6538341"/>
                  </a:lnTo>
                  <a:lnTo>
                    <a:pt x="0" y="0"/>
                  </a:lnTo>
                  <a:close/>
                </a:path>
              </a:pathLst>
            </a:custGeom>
            <a:blipFill>
              <a:blip r:embed="rId3"/>
              <a:stretch>
                <a:fillRect t="-1" b="-1"/>
              </a:stretch>
            </a:blipFill>
          </p:spPr>
          <p:txBody>
            <a:bodyPr/>
            <a:lstStyle/>
            <a:p>
              <a:endParaRPr lang="en-US"/>
            </a:p>
          </p:txBody>
        </p:sp>
      </p:grpSp>
      <p:sp>
        <p:nvSpPr>
          <p:cNvPr id="4" name="Freeform 4"/>
          <p:cNvSpPr/>
          <p:nvPr/>
        </p:nvSpPr>
        <p:spPr>
          <a:xfrm>
            <a:off x="8660010" y="5339393"/>
            <a:ext cx="7351100" cy="5453135"/>
          </a:xfrm>
          <a:custGeom>
            <a:avLst/>
            <a:gdLst/>
            <a:ahLst/>
            <a:cxnLst/>
            <a:rect l="l" t="t" r="r" b="b"/>
            <a:pathLst>
              <a:path w="7351100" h="5453135">
                <a:moveTo>
                  <a:pt x="0" y="0"/>
                </a:moveTo>
                <a:lnTo>
                  <a:pt x="7351100" y="0"/>
                </a:lnTo>
                <a:lnTo>
                  <a:pt x="7351100" y="5453135"/>
                </a:lnTo>
                <a:lnTo>
                  <a:pt x="0" y="5453135"/>
                </a:lnTo>
                <a:lnTo>
                  <a:pt x="0" y="0"/>
                </a:lnTo>
                <a:close/>
              </a:path>
            </a:pathLst>
          </a:custGeom>
          <a:blipFill>
            <a:blip r:embed="rId4"/>
            <a:stretch>
              <a:fillRect t="-9399" b="-9399"/>
            </a:stretch>
          </a:blipFill>
        </p:spPr>
        <p:txBody>
          <a:bodyPr/>
          <a:lstStyle/>
          <a:p>
            <a:endParaRPr lang="en-US"/>
          </a:p>
        </p:txBody>
      </p:sp>
      <p:grpSp>
        <p:nvGrpSpPr>
          <p:cNvPr id="5" name="Group 5"/>
          <p:cNvGrpSpPr/>
          <p:nvPr/>
        </p:nvGrpSpPr>
        <p:grpSpPr>
          <a:xfrm>
            <a:off x="12335560" y="-2421340"/>
            <a:ext cx="8918939" cy="7966881"/>
            <a:chOff x="0" y="0"/>
            <a:chExt cx="12284072" cy="10972800"/>
          </a:xfrm>
        </p:grpSpPr>
        <p:sp>
          <p:nvSpPr>
            <p:cNvPr id="6" name="Freeform 6"/>
            <p:cNvSpPr/>
            <p:nvPr/>
          </p:nvSpPr>
          <p:spPr>
            <a:xfrm>
              <a:off x="0" y="0"/>
              <a:ext cx="12284075" cy="10972800"/>
            </a:xfrm>
            <a:custGeom>
              <a:avLst/>
              <a:gdLst/>
              <a:ahLst/>
              <a:cxnLst/>
              <a:rect l="l" t="t" r="r" b="b"/>
              <a:pathLst>
                <a:path w="12284075" h="10972800">
                  <a:moveTo>
                    <a:pt x="0" y="0"/>
                  </a:moveTo>
                  <a:lnTo>
                    <a:pt x="12284075" y="0"/>
                  </a:lnTo>
                  <a:lnTo>
                    <a:pt x="12284075" y="10972800"/>
                  </a:lnTo>
                  <a:lnTo>
                    <a:pt x="0" y="10972800"/>
                  </a:lnTo>
                  <a:lnTo>
                    <a:pt x="0" y="0"/>
                  </a:lnTo>
                  <a:close/>
                </a:path>
              </a:pathLst>
            </a:custGeom>
            <a:blipFill>
              <a:blip r:embed="rId5"/>
              <a:stretch>
                <a:fillRect l="-1389" r="-1389"/>
              </a:stretch>
            </a:blipFill>
          </p:spPr>
          <p:txBody>
            <a:bodyPr/>
            <a:lstStyle/>
            <a:p>
              <a:endParaRPr lang="en-US"/>
            </a:p>
          </p:txBody>
        </p:sp>
      </p:grpSp>
      <p:grpSp>
        <p:nvGrpSpPr>
          <p:cNvPr id="7" name="Group 7"/>
          <p:cNvGrpSpPr/>
          <p:nvPr/>
        </p:nvGrpSpPr>
        <p:grpSpPr>
          <a:xfrm>
            <a:off x="720981" y="1180108"/>
            <a:ext cx="9196056" cy="4365396"/>
            <a:chOff x="0" y="0"/>
            <a:chExt cx="12261408" cy="5820527"/>
          </a:xfrm>
        </p:grpSpPr>
        <p:sp>
          <p:nvSpPr>
            <p:cNvPr id="8" name="TextBox 8"/>
            <p:cNvSpPr txBox="1"/>
            <p:nvPr/>
          </p:nvSpPr>
          <p:spPr>
            <a:xfrm>
              <a:off x="0" y="-28575"/>
              <a:ext cx="12261408" cy="1184304"/>
            </a:xfrm>
            <a:prstGeom prst="rect">
              <a:avLst/>
            </a:prstGeom>
          </p:spPr>
          <p:txBody>
            <a:bodyPr lIns="0" tIns="0" rIns="0" bIns="0" rtlCol="0" anchor="t">
              <a:spAutoFit/>
            </a:bodyPr>
            <a:lstStyle/>
            <a:p>
              <a:pPr algn="l">
                <a:lnSpc>
                  <a:spcPts val="6839"/>
                </a:lnSpc>
              </a:pPr>
              <a:r>
                <a:rPr lang="en-US" sz="5700" b="1">
                  <a:solidFill>
                    <a:srgbClr val="D322FF"/>
                  </a:solidFill>
                  <a:latin typeface="Arimo Bold"/>
                  <a:ea typeface="Arimo Bold"/>
                  <a:cs typeface="Arimo Bold"/>
                  <a:sym typeface="Arimo Bold"/>
                </a:rPr>
                <a:t>Giyim E-Ticaret Platformu</a:t>
              </a:r>
            </a:p>
          </p:txBody>
        </p:sp>
        <p:sp>
          <p:nvSpPr>
            <p:cNvPr id="9" name="TextBox 9"/>
            <p:cNvSpPr txBox="1"/>
            <p:nvPr/>
          </p:nvSpPr>
          <p:spPr>
            <a:xfrm>
              <a:off x="0" y="1833362"/>
              <a:ext cx="12261408" cy="3987165"/>
            </a:xfrm>
            <a:prstGeom prst="rect">
              <a:avLst/>
            </a:prstGeom>
          </p:spPr>
          <p:txBody>
            <a:bodyPr lIns="0" tIns="0" rIns="0" bIns="0" rtlCol="0" anchor="t">
              <a:spAutoFit/>
            </a:bodyPr>
            <a:lstStyle/>
            <a:p>
              <a:pPr algn="just">
                <a:lnSpc>
                  <a:spcPts val="3375"/>
                </a:lnSpc>
              </a:pPr>
              <a:r>
                <a:rPr lang="en-US" sz="2700">
                  <a:solidFill>
                    <a:srgbClr val="101010"/>
                  </a:solidFill>
                  <a:latin typeface="Montserrat"/>
                  <a:ea typeface="Montserrat"/>
                  <a:cs typeface="Montserrat"/>
                  <a:sym typeface="Montserrat"/>
                </a:rPr>
                <a:t>ShopEase, kullanıcıların giyim ürünlerini kolayca keşfedip satın alabileceği, işletmelerin ise ürün ve stok yönetimini zahmetsizce yapabileceği modern bir e-ticaret platformudur. Bu sunumda, projemizin detaylarını, teknik mimarisini ve gelecekteki potansiyelini aktaracağız.</a:t>
              </a:r>
            </a:p>
            <a:p>
              <a:pPr algn="just">
                <a:lnSpc>
                  <a:spcPts val="3375"/>
                </a:lnSpc>
              </a:pPr>
              <a:endParaRPr lang="en-US" sz="2700">
                <a:solidFill>
                  <a:srgbClr val="101010"/>
                </a:solidFill>
                <a:latin typeface="Montserrat"/>
                <a:ea typeface="Montserrat"/>
                <a:cs typeface="Montserrat"/>
                <a:sym typeface="Montserrat"/>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2" name="Freeform 2"/>
          <p:cNvSpPr/>
          <p:nvPr/>
        </p:nvSpPr>
        <p:spPr>
          <a:xfrm rot="3728966">
            <a:off x="-7412614" y="890169"/>
            <a:ext cx="10480795" cy="9239208"/>
          </a:xfrm>
          <a:custGeom>
            <a:avLst/>
            <a:gdLst/>
            <a:ahLst/>
            <a:cxnLst/>
            <a:rect l="l" t="t" r="r" b="b"/>
            <a:pathLst>
              <a:path w="10480795" h="9239208">
                <a:moveTo>
                  <a:pt x="0" y="0"/>
                </a:moveTo>
                <a:lnTo>
                  <a:pt x="10480795" y="0"/>
                </a:lnTo>
                <a:lnTo>
                  <a:pt x="10480795" y="9239208"/>
                </a:lnTo>
                <a:lnTo>
                  <a:pt x="0" y="9239208"/>
                </a:lnTo>
                <a:lnTo>
                  <a:pt x="0" y="0"/>
                </a:lnTo>
                <a:close/>
              </a:path>
            </a:pathLst>
          </a:custGeom>
          <a:blipFill>
            <a:blip r:embed="rId3"/>
            <a:stretch>
              <a:fillRect l="-735" r="-735"/>
            </a:stretch>
          </a:blipFill>
        </p:spPr>
        <p:txBody>
          <a:bodyPr/>
          <a:lstStyle/>
          <a:p>
            <a:endParaRPr lang="en-US"/>
          </a:p>
        </p:txBody>
      </p:sp>
      <p:sp>
        <p:nvSpPr>
          <p:cNvPr id="3" name="TextBox 3"/>
          <p:cNvSpPr txBox="1"/>
          <p:nvPr/>
        </p:nvSpPr>
        <p:spPr>
          <a:xfrm>
            <a:off x="2528604" y="795434"/>
            <a:ext cx="14405967" cy="1114351"/>
          </a:xfrm>
          <a:prstGeom prst="rect">
            <a:avLst/>
          </a:prstGeom>
        </p:spPr>
        <p:txBody>
          <a:bodyPr lIns="0" tIns="0" rIns="0" bIns="0" rtlCol="0" anchor="t">
            <a:spAutoFit/>
          </a:bodyPr>
          <a:lstStyle/>
          <a:p>
            <a:pPr marL="0" lvl="0" indent="0" algn="l">
              <a:lnSpc>
                <a:spcPts val="8844"/>
              </a:lnSpc>
              <a:spcBef>
                <a:spcPct val="0"/>
              </a:spcBef>
            </a:pPr>
            <a:r>
              <a:rPr lang="en-US" sz="7370" b="1">
                <a:solidFill>
                  <a:srgbClr val="D322FF"/>
                </a:solidFill>
                <a:latin typeface="Montserrat Bold"/>
                <a:ea typeface="Montserrat Bold"/>
                <a:cs typeface="Montserrat Bold"/>
                <a:sym typeface="Montserrat Bold"/>
              </a:rPr>
              <a:t>Proje Amacı ve Vizyonumuz</a:t>
            </a:r>
          </a:p>
        </p:txBody>
      </p:sp>
      <p:sp>
        <p:nvSpPr>
          <p:cNvPr id="4" name="TextBox 4"/>
          <p:cNvSpPr txBox="1"/>
          <p:nvPr/>
        </p:nvSpPr>
        <p:spPr>
          <a:xfrm>
            <a:off x="2528604" y="2748210"/>
            <a:ext cx="11519396" cy="590624"/>
          </a:xfrm>
          <a:prstGeom prst="rect">
            <a:avLst/>
          </a:prstGeom>
        </p:spPr>
        <p:txBody>
          <a:bodyPr lIns="0" tIns="0" rIns="0" bIns="0" rtlCol="0" anchor="t">
            <a:spAutoFit/>
          </a:bodyPr>
          <a:lstStyle/>
          <a:p>
            <a:pPr marL="0" lvl="0" indent="0" algn="l">
              <a:lnSpc>
                <a:spcPts val="4799"/>
              </a:lnSpc>
              <a:spcBef>
                <a:spcPct val="0"/>
              </a:spcBef>
            </a:pPr>
            <a:r>
              <a:rPr lang="en-US" sz="3999" b="1">
                <a:solidFill>
                  <a:srgbClr val="D322FF"/>
                </a:solidFill>
                <a:latin typeface="Montserrat Bold"/>
                <a:ea typeface="Montserrat Bold"/>
                <a:cs typeface="Montserrat Bold"/>
                <a:sym typeface="Montserrat Bold"/>
              </a:rPr>
              <a:t>Kusursuz Bir E-Ticaret Deneyimi Yaratmak</a:t>
            </a:r>
          </a:p>
        </p:txBody>
      </p:sp>
      <p:sp>
        <p:nvSpPr>
          <p:cNvPr id="5" name="TextBox 5"/>
          <p:cNvSpPr txBox="1"/>
          <p:nvPr/>
        </p:nvSpPr>
        <p:spPr>
          <a:xfrm>
            <a:off x="2528604" y="4110437"/>
            <a:ext cx="14233807" cy="3124369"/>
          </a:xfrm>
          <a:prstGeom prst="rect">
            <a:avLst/>
          </a:prstGeom>
        </p:spPr>
        <p:txBody>
          <a:bodyPr lIns="0" tIns="0" rIns="0" bIns="0" rtlCol="0" anchor="t">
            <a:spAutoFit/>
          </a:bodyPr>
          <a:lstStyle/>
          <a:p>
            <a:pPr algn="l">
              <a:lnSpc>
                <a:spcPts val="4190"/>
              </a:lnSpc>
            </a:pPr>
            <a:r>
              <a:rPr lang="en-US" sz="2993">
                <a:solidFill>
                  <a:srgbClr val="101010"/>
                </a:solidFill>
                <a:latin typeface="Montserrat"/>
                <a:ea typeface="Montserrat"/>
                <a:cs typeface="Montserrat"/>
                <a:sym typeface="Montserrat"/>
              </a:rPr>
              <a:t>ShopEase'in temel amacı, hem alıcılar hem de satıcılar için çağdaş ve kullanıcı dostu bir online alışveriş ortamı sağlamaktır. Kullanıcıların giyim ürünlerini zahmetsizce inceleyip satın alabildiği, işletmelerin ise ürün yönetimi, stok takibi ve sipariş işlemlerini etkin bir şekilde yönetebildiği bir platform hayal ettik.</a:t>
            </a:r>
          </a:p>
          <a:p>
            <a:pPr algn="l">
              <a:lnSpc>
                <a:spcPts val="4190"/>
              </a:lnSpc>
            </a:pPr>
            <a:endParaRPr lang="en-US" sz="2993">
              <a:solidFill>
                <a:srgbClr val="101010"/>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779574" y="1463869"/>
            <a:ext cx="20498646" cy="8340828"/>
            <a:chOff x="0" y="0"/>
            <a:chExt cx="5398820" cy="2196761"/>
          </a:xfrm>
        </p:grpSpPr>
        <p:sp>
          <p:nvSpPr>
            <p:cNvPr id="3" name="Freeform 3"/>
            <p:cNvSpPr/>
            <p:nvPr/>
          </p:nvSpPr>
          <p:spPr>
            <a:xfrm>
              <a:off x="0" y="0"/>
              <a:ext cx="5398820" cy="2196761"/>
            </a:xfrm>
            <a:custGeom>
              <a:avLst/>
              <a:gdLst/>
              <a:ahLst/>
              <a:cxnLst/>
              <a:rect l="l" t="t" r="r" b="b"/>
              <a:pathLst>
                <a:path w="5398820" h="2196761">
                  <a:moveTo>
                    <a:pt x="0" y="0"/>
                  </a:moveTo>
                  <a:lnTo>
                    <a:pt x="5398820" y="0"/>
                  </a:lnTo>
                  <a:lnTo>
                    <a:pt x="5398820" y="2196761"/>
                  </a:lnTo>
                  <a:lnTo>
                    <a:pt x="0" y="2196761"/>
                  </a:lnTo>
                  <a:close/>
                </a:path>
              </a:pathLst>
            </a:custGeom>
            <a:solidFill>
              <a:srgbClr val="FFFFFF"/>
            </a:solidFill>
          </p:spPr>
          <p:txBody>
            <a:bodyPr/>
            <a:lstStyle/>
            <a:p>
              <a:endParaRPr lang="en-US"/>
            </a:p>
          </p:txBody>
        </p:sp>
        <p:sp>
          <p:nvSpPr>
            <p:cNvPr id="4" name="TextBox 4"/>
            <p:cNvSpPr txBox="1"/>
            <p:nvPr/>
          </p:nvSpPr>
          <p:spPr>
            <a:xfrm>
              <a:off x="0" y="-47625"/>
              <a:ext cx="5398820" cy="2244386"/>
            </a:xfrm>
            <a:prstGeom prst="rect">
              <a:avLst/>
            </a:prstGeom>
          </p:spPr>
          <p:txBody>
            <a:bodyPr lIns="50800" tIns="50800" rIns="50800" bIns="50800" rtlCol="0" anchor="ctr"/>
            <a:lstStyle/>
            <a:p>
              <a:pPr algn="ctr">
                <a:lnSpc>
                  <a:spcPts val="3640"/>
                </a:lnSpc>
              </a:pPr>
              <a:endParaRPr/>
            </a:p>
          </p:txBody>
        </p:sp>
      </p:grpSp>
      <p:grpSp>
        <p:nvGrpSpPr>
          <p:cNvPr id="5" name="Group 5"/>
          <p:cNvGrpSpPr/>
          <p:nvPr/>
        </p:nvGrpSpPr>
        <p:grpSpPr>
          <a:xfrm>
            <a:off x="3779864" y="6351170"/>
            <a:ext cx="4003257" cy="782291"/>
            <a:chOff x="0" y="-23475"/>
            <a:chExt cx="1170086" cy="228651"/>
          </a:xfrm>
        </p:grpSpPr>
        <p:sp>
          <p:nvSpPr>
            <p:cNvPr id="6" name="Freeform 6"/>
            <p:cNvSpPr/>
            <p:nvPr/>
          </p:nvSpPr>
          <p:spPr>
            <a:xfrm>
              <a:off x="0" y="0"/>
              <a:ext cx="1170086" cy="181026"/>
            </a:xfrm>
            <a:custGeom>
              <a:avLst/>
              <a:gdLst/>
              <a:ahLst/>
              <a:cxnLst/>
              <a:rect l="l" t="t" r="r" b="b"/>
              <a:pathLst>
                <a:path w="1170086" h="181026">
                  <a:moveTo>
                    <a:pt x="88960" y="0"/>
                  </a:moveTo>
                  <a:lnTo>
                    <a:pt x="1081127" y="0"/>
                  </a:lnTo>
                  <a:cubicBezTo>
                    <a:pt x="1130258" y="0"/>
                    <a:pt x="1170086" y="39829"/>
                    <a:pt x="1170086" y="88960"/>
                  </a:cubicBezTo>
                  <a:lnTo>
                    <a:pt x="1170086" y="92066"/>
                  </a:lnTo>
                  <a:cubicBezTo>
                    <a:pt x="1170086" y="115660"/>
                    <a:pt x="1160714" y="138287"/>
                    <a:pt x="1144031" y="154970"/>
                  </a:cubicBezTo>
                  <a:cubicBezTo>
                    <a:pt x="1127347" y="171653"/>
                    <a:pt x="1104720" y="181026"/>
                    <a:pt x="1081127" y="181026"/>
                  </a:cubicBezTo>
                  <a:lnTo>
                    <a:pt x="88960" y="181026"/>
                  </a:lnTo>
                  <a:cubicBezTo>
                    <a:pt x="65366" y="181026"/>
                    <a:pt x="42739" y="171653"/>
                    <a:pt x="26056" y="154970"/>
                  </a:cubicBezTo>
                  <a:cubicBezTo>
                    <a:pt x="9373" y="138287"/>
                    <a:pt x="0" y="115660"/>
                    <a:pt x="0" y="92066"/>
                  </a:cubicBezTo>
                  <a:lnTo>
                    <a:pt x="0" y="88960"/>
                  </a:lnTo>
                  <a:cubicBezTo>
                    <a:pt x="0" y="65366"/>
                    <a:pt x="9373" y="42739"/>
                    <a:pt x="26056" y="26056"/>
                  </a:cubicBezTo>
                  <a:cubicBezTo>
                    <a:pt x="42739" y="9373"/>
                    <a:pt x="65366" y="0"/>
                    <a:pt x="88960" y="0"/>
                  </a:cubicBezTo>
                  <a:close/>
                </a:path>
              </a:pathLst>
            </a:custGeom>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a:ln cap="rnd">
              <a:noFill/>
              <a:prstDash val="solid"/>
              <a:round/>
            </a:ln>
          </p:spPr>
          <p:txBody>
            <a:bodyPr/>
            <a:lstStyle/>
            <a:p>
              <a:endParaRPr lang="en-US"/>
            </a:p>
          </p:txBody>
        </p:sp>
        <p:sp>
          <p:nvSpPr>
            <p:cNvPr id="7" name="TextBox 7"/>
            <p:cNvSpPr txBox="1"/>
            <p:nvPr/>
          </p:nvSpPr>
          <p:spPr>
            <a:xfrm>
              <a:off x="0" y="-23475"/>
              <a:ext cx="1170086" cy="228651"/>
            </a:xfrm>
            <a:prstGeom prst="rect">
              <a:avLst/>
            </a:prstGeom>
          </p:spPr>
          <p:txBody>
            <a:bodyPr lIns="0" tIns="0" rIns="0" bIns="0" rtlCol="0" anchor="ctr"/>
            <a:lstStyle/>
            <a:p>
              <a:pPr algn="ctr">
                <a:lnSpc>
                  <a:spcPts val="3220"/>
                </a:lnSpc>
              </a:pPr>
              <a:r>
                <a:rPr lang="en-US" sz="2300" b="1">
                  <a:solidFill>
                    <a:srgbClr val="FFFFFF"/>
                  </a:solidFill>
                  <a:latin typeface="Montserrat Bold"/>
                  <a:ea typeface="Montserrat Bold"/>
                  <a:cs typeface="Montserrat Bold"/>
                  <a:sym typeface="Montserrat Bold"/>
                </a:rPr>
                <a:t>Mehmet Zahit Uyanık</a:t>
              </a:r>
            </a:p>
          </p:txBody>
        </p:sp>
      </p:grpSp>
      <p:grpSp>
        <p:nvGrpSpPr>
          <p:cNvPr id="8" name="Group 8"/>
          <p:cNvGrpSpPr>
            <a:grpSpLocks noChangeAspect="1"/>
          </p:cNvGrpSpPr>
          <p:nvPr/>
        </p:nvGrpSpPr>
        <p:grpSpPr>
          <a:xfrm>
            <a:off x="4126407" y="2860789"/>
            <a:ext cx="3310172" cy="3310172"/>
            <a:chOff x="0" y="0"/>
            <a:chExt cx="14840029" cy="14840029"/>
          </a:xfrm>
        </p:grpSpPr>
        <p:sp>
          <p:nvSpPr>
            <p:cNvPr id="9" name="Freeform 9"/>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p:spPr>
          <p:txBody>
            <a:bodyPr/>
            <a:lstStyle/>
            <a:p>
              <a:endParaRPr lang="en-US"/>
            </a:p>
          </p:txBody>
        </p:sp>
        <p:sp>
          <p:nvSpPr>
            <p:cNvPr id="10" name="Freeform 10"/>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p:spPr>
          <p:txBody>
            <a:bodyPr/>
            <a:lstStyle/>
            <a:p>
              <a:endParaRPr lang="en-US"/>
            </a:p>
          </p:txBody>
        </p:sp>
        <p:sp>
          <p:nvSpPr>
            <p:cNvPr id="11" name="Freeform 11"/>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3"/>
              <a:stretch>
                <a:fillRect l="223" t="-11069" r="223" b="-21819"/>
              </a:stretch>
            </a:blipFill>
          </p:spPr>
          <p:txBody>
            <a:bodyPr/>
            <a:lstStyle/>
            <a:p>
              <a:endParaRPr lang="en-US"/>
            </a:p>
          </p:txBody>
        </p:sp>
      </p:grpSp>
      <p:grpSp>
        <p:nvGrpSpPr>
          <p:cNvPr id="12" name="Group 12"/>
          <p:cNvGrpSpPr/>
          <p:nvPr/>
        </p:nvGrpSpPr>
        <p:grpSpPr>
          <a:xfrm>
            <a:off x="10504879" y="6433796"/>
            <a:ext cx="4003257" cy="782291"/>
            <a:chOff x="0" y="-23475"/>
            <a:chExt cx="1170086" cy="228651"/>
          </a:xfrm>
        </p:grpSpPr>
        <p:sp>
          <p:nvSpPr>
            <p:cNvPr id="13" name="Freeform 13"/>
            <p:cNvSpPr/>
            <p:nvPr/>
          </p:nvSpPr>
          <p:spPr>
            <a:xfrm>
              <a:off x="0" y="0"/>
              <a:ext cx="1170086" cy="181026"/>
            </a:xfrm>
            <a:custGeom>
              <a:avLst/>
              <a:gdLst/>
              <a:ahLst/>
              <a:cxnLst/>
              <a:rect l="l" t="t" r="r" b="b"/>
              <a:pathLst>
                <a:path w="1170086" h="181026">
                  <a:moveTo>
                    <a:pt x="88960" y="0"/>
                  </a:moveTo>
                  <a:lnTo>
                    <a:pt x="1081127" y="0"/>
                  </a:lnTo>
                  <a:cubicBezTo>
                    <a:pt x="1130258" y="0"/>
                    <a:pt x="1170086" y="39829"/>
                    <a:pt x="1170086" y="88960"/>
                  </a:cubicBezTo>
                  <a:lnTo>
                    <a:pt x="1170086" y="92066"/>
                  </a:lnTo>
                  <a:cubicBezTo>
                    <a:pt x="1170086" y="115660"/>
                    <a:pt x="1160714" y="138287"/>
                    <a:pt x="1144031" y="154970"/>
                  </a:cubicBezTo>
                  <a:cubicBezTo>
                    <a:pt x="1127347" y="171653"/>
                    <a:pt x="1104720" y="181026"/>
                    <a:pt x="1081127" y="181026"/>
                  </a:cubicBezTo>
                  <a:lnTo>
                    <a:pt x="88960" y="181026"/>
                  </a:lnTo>
                  <a:cubicBezTo>
                    <a:pt x="65366" y="181026"/>
                    <a:pt x="42739" y="171653"/>
                    <a:pt x="26056" y="154970"/>
                  </a:cubicBezTo>
                  <a:cubicBezTo>
                    <a:pt x="9373" y="138287"/>
                    <a:pt x="0" y="115660"/>
                    <a:pt x="0" y="92066"/>
                  </a:cubicBezTo>
                  <a:lnTo>
                    <a:pt x="0" y="88960"/>
                  </a:lnTo>
                  <a:cubicBezTo>
                    <a:pt x="0" y="65366"/>
                    <a:pt x="9373" y="42739"/>
                    <a:pt x="26056" y="26056"/>
                  </a:cubicBezTo>
                  <a:cubicBezTo>
                    <a:pt x="42739" y="9373"/>
                    <a:pt x="65366" y="0"/>
                    <a:pt x="88960" y="0"/>
                  </a:cubicBezTo>
                  <a:close/>
                </a:path>
              </a:pathLst>
            </a:custGeom>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a:ln cap="rnd">
              <a:noFill/>
              <a:prstDash val="solid"/>
              <a:round/>
            </a:ln>
          </p:spPr>
          <p:txBody>
            <a:bodyPr/>
            <a:lstStyle/>
            <a:p>
              <a:endParaRPr lang="en-US"/>
            </a:p>
          </p:txBody>
        </p:sp>
        <p:sp>
          <p:nvSpPr>
            <p:cNvPr id="14" name="TextBox 14"/>
            <p:cNvSpPr txBox="1"/>
            <p:nvPr/>
          </p:nvSpPr>
          <p:spPr>
            <a:xfrm>
              <a:off x="0" y="-23475"/>
              <a:ext cx="1170086" cy="228651"/>
            </a:xfrm>
            <a:prstGeom prst="rect">
              <a:avLst/>
            </a:prstGeom>
          </p:spPr>
          <p:txBody>
            <a:bodyPr lIns="0" tIns="0" rIns="0" bIns="0" rtlCol="0" anchor="ctr"/>
            <a:lstStyle/>
            <a:p>
              <a:pPr algn="ctr">
                <a:lnSpc>
                  <a:spcPts val="3220"/>
                </a:lnSpc>
              </a:pPr>
              <a:r>
                <a:rPr lang="en-US" sz="2300" b="1">
                  <a:solidFill>
                    <a:srgbClr val="FFFFFF"/>
                  </a:solidFill>
                  <a:latin typeface="Montserrat Bold"/>
                  <a:ea typeface="Montserrat Bold"/>
                  <a:cs typeface="Montserrat Bold"/>
                  <a:sym typeface="Montserrat Bold"/>
                </a:rPr>
                <a:t>Metehan Dündar</a:t>
              </a:r>
            </a:p>
          </p:txBody>
        </p:sp>
      </p:grpSp>
      <p:grpSp>
        <p:nvGrpSpPr>
          <p:cNvPr id="15" name="Group 15"/>
          <p:cNvGrpSpPr>
            <a:grpSpLocks noChangeAspect="1"/>
          </p:cNvGrpSpPr>
          <p:nvPr/>
        </p:nvGrpSpPr>
        <p:grpSpPr>
          <a:xfrm>
            <a:off x="10851421" y="2860789"/>
            <a:ext cx="3310172" cy="3310172"/>
            <a:chOff x="0" y="0"/>
            <a:chExt cx="14840029" cy="14840029"/>
          </a:xfrm>
        </p:grpSpPr>
        <p:sp>
          <p:nvSpPr>
            <p:cNvPr id="16" name="Freeform 16"/>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p:spPr>
          <p:txBody>
            <a:bodyPr/>
            <a:lstStyle/>
            <a:p>
              <a:endParaRPr lang="en-US"/>
            </a:p>
          </p:txBody>
        </p:sp>
        <p:sp>
          <p:nvSpPr>
            <p:cNvPr id="17" name="Freeform 17"/>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p:spPr>
          <p:txBody>
            <a:bodyPr/>
            <a:lstStyle/>
            <a:p>
              <a:endParaRPr lang="en-US"/>
            </a:p>
          </p:txBody>
        </p:sp>
        <p:sp>
          <p:nvSpPr>
            <p:cNvPr id="18" name="Freeform 18"/>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4"/>
              <a:stretch>
                <a:fillRect l="-19808" t="-5391" r="-26110" b="-24951"/>
              </a:stretch>
            </a:blipFill>
          </p:spPr>
          <p:txBody>
            <a:bodyPr/>
            <a:lstStyle/>
            <a:p>
              <a:endParaRPr lang="en-US"/>
            </a:p>
          </p:txBody>
        </p:sp>
      </p:grpSp>
      <p:sp>
        <p:nvSpPr>
          <p:cNvPr id="19" name="TextBox 19"/>
          <p:cNvSpPr txBox="1"/>
          <p:nvPr/>
        </p:nvSpPr>
        <p:spPr>
          <a:xfrm>
            <a:off x="6427080" y="406594"/>
            <a:ext cx="5433840" cy="1057275"/>
          </a:xfrm>
          <a:prstGeom prst="rect">
            <a:avLst/>
          </a:prstGeom>
        </p:spPr>
        <p:txBody>
          <a:bodyPr lIns="0" tIns="0" rIns="0" bIns="0" rtlCol="0" anchor="t">
            <a:spAutoFit/>
          </a:bodyPr>
          <a:lstStyle/>
          <a:p>
            <a:pPr marL="0" lvl="0" indent="0" algn="ctr">
              <a:lnSpc>
                <a:spcPts val="8299"/>
              </a:lnSpc>
              <a:spcBef>
                <a:spcPct val="0"/>
              </a:spcBef>
            </a:pPr>
            <a:r>
              <a:rPr lang="en-US" sz="6916" b="1">
                <a:solidFill>
                  <a:srgbClr val="F4F6FC"/>
                </a:solidFill>
                <a:latin typeface="Roboto Bold"/>
                <a:ea typeface="Roboto Bold"/>
                <a:cs typeface="Roboto Bold"/>
                <a:sym typeface="Roboto Bold"/>
              </a:rPr>
              <a:t>Takımımız</a:t>
            </a:r>
          </a:p>
        </p:txBody>
      </p:sp>
      <p:sp>
        <p:nvSpPr>
          <p:cNvPr id="20" name="TextBox 20"/>
          <p:cNvSpPr txBox="1"/>
          <p:nvPr/>
        </p:nvSpPr>
        <p:spPr>
          <a:xfrm>
            <a:off x="3892393" y="7216111"/>
            <a:ext cx="3778200" cy="380411"/>
          </a:xfrm>
          <a:prstGeom prst="rect">
            <a:avLst/>
          </a:prstGeom>
        </p:spPr>
        <p:txBody>
          <a:bodyPr lIns="0" tIns="0" rIns="0" bIns="0" rtlCol="0" anchor="t">
            <a:spAutoFit/>
          </a:bodyPr>
          <a:lstStyle/>
          <a:p>
            <a:pPr algn="ctr">
              <a:lnSpc>
                <a:spcPts val="3246"/>
              </a:lnSpc>
            </a:pPr>
            <a:r>
              <a:rPr lang="en-US" sz="1876" b="1">
                <a:solidFill>
                  <a:srgbClr val="000000"/>
                </a:solidFill>
                <a:latin typeface="Montserrat Bold"/>
                <a:ea typeface="Montserrat Bold"/>
                <a:cs typeface="Montserrat Bold"/>
                <a:sym typeface="Montserrat Bold"/>
              </a:rPr>
              <a:t>Fullstack Takım Lideri</a:t>
            </a:r>
          </a:p>
        </p:txBody>
      </p:sp>
      <p:sp>
        <p:nvSpPr>
          <p:cNvPr id="21" name="TextBox 21"/>
          <p:cNvSpPr txBox="1"/>
          <p:nvPr/>
        </p:nvSpPr>
        <p:spPr>
          <a:xfrm>
            <a:off x="10617407" y="7216111"/>
            <a:ext cx="3778200" cy="380372"/>
          </a:xfrm>
          <a:prstGeom prst="rect">
            <a:avLst/>
          </a:prstGeom>
        </p:spPr>
        <p:txBody>
          <a:bodyPr lIns="0" tIns="0" rIns="0" bIns="0" rtlCol="0" anchor="t">
            <a:spAutoFit/>
          </a:bodyPr>
          <a:lstStyle/>
          <a:p>
            <a:pPr algn="ctr">
              <a:lnSpc>
                <a:spcPts val="3246"/>
              </a:lnSpc>
            </a:pPr>
            <a:r>
              <a:rPr lang="en-US" sz="1876" b="1">
                <a:solidFill>
                  <a:srgbClr val="000000"/>
                </a:solidFill>
                <a:latin typeface="Montserrat Bold"/>
                <a:ea typeface="Montserrat Bold"/>
                <a:cs typeface="Montserrat Bold"/>
                <a:sym typeface="Montserrat Bold"/>
              </a:rPr>
              <a:t>Backend Takım Lideri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752925" y="1573804"/>
            <a:ext cx="20498646" cy="8340828"/>
            <a:chOff x="0" y="0"/>
            <a:chExt cx="5398820" cy="2196761"/>
          </a:xfrm>
        </p:grpSpPr>
        <p:sp>
          <p:nvSpPr>
            <p:cNvPr id="3" name="Freeform 3"/>
            <p:cNvSpPr/>
            <p:nvPr/>
          </p:nvSpPr>
          <p:spPr>
            <a:xfrm>
              <a:off x="0" y="0"/>
              <a:ext cx="5398820" cy="2196761"/>
            </a:xfrm>
            <a:custGeom>
              <a:avLst/>
              <a:gdLst/>
              <a:ahLst/>
              <a:cxnLst/>
              <a:rect l="l" t="t" r="r" b="b"/>
              <a:pathLst>
                <a:path w="5398820" h="2196761">
                  <a:moveTo>
                    <a:pt x="0" y="0"/>
                  </a:moveTo>
                  <a:lnTo>
                    <a:pt x="5398820" y="0"/>
                  </a:lnTo>
                  <a:lnTo>
                    <a:pt x="5398820" y="2196761"/>
                  </a:lnTo>
                  <a:lnTo>
                    <a:pt x="0" y="2196761"/>
                  </a:lnTo>
                  <a:close/>
                </a:path>
              </a:pathLst>
            </a:custGeom>
            <a:solidFill>
              <a:srgbClr val="FFFFFF"/>
            </a:solidFill>
          </p:spPr>
          <p:txBody>
            <a:bodyPr/>
            <a:lstStyle/>
            <a:p>
              <a:endParaRPr lang="en-US"/>
            </a:p>
          </p:txBody>
        </p:sp>
        <p:sp>
          <p:nvSpPr>
            <p:cNvPr id="4" name="TextBox 4"/>
            <p:cNvSpPr txBox="1"/>
            <p:nvPr/>
          </p:nvSpPr>
          <p:spPr>
            <a:xfrm>
              <a:off x="0" y="-47625"/>
              <a:ext cx="5398820" cy="2244386"/>
            </a:xfrm>
            <a:prstGeom prst="rect">
              <a:avLst/>
            </a:prstGeom>
          </p:spPr>
          <p:txBody>
            <a:bodyPr lIns="50800" tIns="50800" rIns="50800" bIns="50800" rtlCol="0" anchor="ctr"/>
            <a:lstStyle/>
            <a:p>
              <a:pPr algn="ctr">
                <a:lnSpc>
                  <a:spcPts val="3640"/>
                </a:lnSpc>
              </a:pPr>
              <a:endParaRPr/>
            </a:p>
          </p:txBody>
        </p:sp>
      </p:grpSp>
      <p:grpSp>
        <p:nvGrpSpPr>
          <p:cNvPr id="5" name="Group 5"/>
          <p:cNvGrpSpPr>
            <a:grpSpLocks noChangeAspect="1"/>
          </p:cNvGrpSpPr>
          <p:nvPr/>
        </p:nvGrpSpPr>
        <p:grpSpPr>
          <a:xfrm>
            <a:off x="9804501" y="2869246"/>
            <a:ext cx="3141499" cy="3141499"/>
            <a:chOff x="0" y="0"/>
            <a:chExt cx="14840029" cy="14840029"/>
          </a:xfrm>
        </p:grpSpPr>
        <p:sp>
          <p:nvSpPr>
            <p:cNvPr id="6" name="Freeform 6"/>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p:spPr>
          <p:txBody>
            <a:bodyPr/>
            <a:lstStyle/>
            <a:p>
              <a:endParaRPr lang="en-US"/>
            </a:p>
          </p:txBody>
        </p:sp>
        <p:sp>
          <p:nvSpPr>
            <p:cNvPr id="7" name="Freeform 7"/>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p:spPr>
          <p:txBody>
            <a:bodyPr/>
            <a:lstStyle/>
            <a:p>
              <a:endParaRPr lang="en-US"/>
            </a:p>
          </p:txBody>
        </p:sp>
        <p:sp>
          <p:nvSpPr>
            <p:cNvPr id="8" name="Freeform 8"/>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3"/>
              <a:stretch>
                <a:fillRect l="223" r="223"/>
              </a:stretch>
            </a:blipFill>
          </p:spPr>
          <p:txBody>
            <a:bodyPr/>
            <a:lstStyle/>
            <a:p>
              <a:endParaRPr lang="en-US"/>
            </a:p>
          </p:txBody>
        </p:sp>
      </p:grpSp>
      <p:grpSp>
        <p:nvGrpSpPr>
          <p:cNvPr id="9" name="Group 9"/>
          <p:cNvGrpSpPr>
            <a:grpSpLocks noChangeAspect="1"/>
          </p:cNvGrpSpPr>
          <p:nvPr/>
        </p:nvGrpSpPr>
        <p:grpSpPr>
          <a:xfrm>
            <a:off x="14269975" y="2869246"/>
            <a:ext cx="3141499" cy="3141499"/>
            <a:chOff x="0" y="0"/>
            <a:chExt cx="14840029" cy="14840029"/>
          </a:xfrm>
        </p:grpSpPr>
        <p:sp>
          <p:nvSpPr>
            <p:cNvPr id="10" name="Freeform 10"/>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p:spPr>
          <p:txBody>
            <a:bodyPr/>
            <a:lstStyle/>
            <a:p>
              <a:endParaRPr lang="en-US"/>
            </a:p>
          </p:txBody>
        </p:sp>
        <p:sp>
          <p:nvSpPr>
            <p:cNvPr id="11" name="Freeform 11"/>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p:spPr>
          <p:txBody>
            <a:bodyPr/>
            <a:lstStyle/>
            <a:p>
              <a:endParaRPr lang="en-US"/>
            </a:p>
          </p:txBody>
        </p:sp>
        <p:sp>
          <p:nvSpPr>
            <p:cNvPr id="12" name="Freeform 12"/>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4"/>
              <a:stretch>
                <a:fillRect l="223" r="223"/>
              </a:stretch>
            </a:blipFill>
          </p:spPr>
          <p:txBody>
            <a:bodyPr/>
            <a:lstStyle/>
            <a:p>
              <a:endParaRPr lang="en-US"/>
            </a:p>
          </p:txBody>
        </p:sp>
      </p:grpSp>
      <p:grpSp>
        <p:nvGrpSpPr>
          <p:cNvPr id="13" name="Group 13"/>
          <p:cNvGrpSpPr/>
          <p:nvPr/>
        </p:nvGrpSpPr>
        <p:grpSpPr>
          <a:xfrm>
            <a:off x="547642" y="6093693"/>
            <a:ext cx="3799268" cy="742429"/>
            <a:chOff x="0" y="-26419"/>
            <a:chExt cx="1170086" cy="228651"/>
          </a:xfrm>
        </p:grpSpPr>
        <p:sp>
          <p:nvSpPr>
            <p:cNvPr id="14" name="Freeform 14"/>
            <p:cNvSpPr/>
            <p:nvPr/>
          </p:nvSpPr>
          <p:spPr>
            <a:xfrm>
              <a:off x="0" y="0"/>
              <a:ext cx="1170086" cy="181026"/>
            </a:xfrm>
            <a:custGeom>
              <a:avLst/>
              <a:gdLst/>
              <a:ahLst/>
              <a:cxnLst/>
              <a:rect l="l" t="t" r="r" b="b"/>
              <a:pathLst>
                <a:path w="1170086" h="181026">
                  <a:moveTo>
                    <a:pt x="90513" y="0"/>
                  </a:moveTo>
                  <a:lnTo>
                    <a:pt x="1079573" y="0"/>
                  </a:lnTo>
                  <a:cubicBezTo>
                    <a:pt x="1103579" y="0"/>
                    <a:pt x="1126601" y="9536"/>
                    <a:pt x="1143576" y="26511"/>
                  </a:cubicBezTo>
                  <a:cubicBezTo>
                    <a:pt x="1160550" y="43485"/>
                    <a:pt x="1170086" y="66507"/>
                    <a:pt x="1170086" y="90513"/>
                  </a:cubicBezTo>
                  <a:lnTo>
                    <a:pt x="1170086" y="90513"/>
                  </a:lnTo>
                  <a:cubicBezTo>
                    <a:pt x="1170086" y="114518"/>
                    <a:pt x="1160550" y="137541"/>
                    <a:pt x="1143576" y="154515"/>
                  </a:cubicBezTo>
                  <a:cubicBezTo>
                    <a:pt x="1126601" y="171490"/>
                    <a:pt x="1103579" y="181026"/>
                    <a:pt x="1079573" y="181026"/>
                  </a:cubicBezTo>
                  <a:lnTo>
                    <a:pt x="90513" y="181026"/>
                  </a:lnTo>
                  <a:cubicBezTo>
                    <a:pt x="66507" y="181026"/>
                    <a:pt x="43485" y="171490"/>
                    <a:pt x="26511" y="154515"/>
                  </a:cubicBezTo>
                  <a:cubicBezTo>
                    <a:pt x="9536" y="137541"/>
                    <a:pt x="0" y="114518"/>
                    <a:pt x="0" y="90513"/>
                  </a:cubicBezTo>
                  <a:lnTo>
                    <a:pt x="0" y="90513"/>
                  </a:lnTo>
                  <a:cubicBezTo>
                    <a:pt x="0" y="66507"/>
                    <a:pt x="9536" y="43485"/>
                    <a:pt x="26511" y="26511"/>
                  </a:cubicBezTo>
                  <a:cubicBezTo>
                    <a:pt x="43485" y="9536"/>
                    <a:pt x="66507" y="0"/>
                    <a:pt x="90513" y="0"/>
                  </a:cubicBezTo>
                  <a:close/>
                </a:path>
              </a:pathLst>
            </a:custGeom>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a:ln cap="rnd">
              <a:noFill/>
              <a:prstDash val="solid"/>
              <a:round/>
            </a:ln>
          </p:spPr>
          <p:txBody>
            <a:bodyPr/>
            <a:lstStyle/>
            <a:p>
              <a:endParaRPr lang="en-US"/>
            </a:p>
          </p:txBody>
        </p:sp>
        <p:sp>
          <p:nvSpPr>
            <p:cNvPr id="15" name="TextBox 15"/>
            <p:cNvSpPr txBox="1"/>
            <p:nvPr/>
          </p:nvSpPr>
          <p:spPr>
            <a:xfrm>
              <a:off x="0" y="-26419"/>
              <a:ext cx="1170086" cy="228651"/>
            </a:xfrm>
            <a:prstGeom prst="rect">
              <a:avLst/>
            </a:prstGeom>
          </p:spPr>
          <p:txBody>
            <a:bodyPr lIns="0" tIns="0" rIns="0" bIns="0" rtlCol="0" anchor="ctr"/>
            <a:lstStyle/>
            <a:p>
              <a:pPr algn="ctr">
                <a:lnSpc>
                  <a:spcPts val="3220"/>
                </a:lnSpc>
              </a:pPr>
              <a:r>
                <a:rPr lang="en-US" sz="2300" b="1">
                  <a:solidFill>
                    <a:srgbClr val="FFFFFF"/>
                  </a:solidFill>
                  <a:latin typeface="Montserrat Bold"/>
                  <a:ea typeface="Montserrat Bold"/>
                  <a:cs typeface="Montserrat Bold"/>
                  <a:sym typeface="Montserrat Bold"/>
                </a:rPr>
                <a:t>Büşra </a:t>
              </a:r>
              <a:r>
                <a:rPr lang="en-US" sz="2300" b="1" err="1">
                  <a:solidFill>
                    <a:srgbClr val="FFFFFF"/>
                  </a:solidFill>
                  <a:latin typeface="Montserrat Bold"/>
                  <a:ea typeface="Montserrat Bold"/>
                  <a:cs typeface="Montserrat Bold"/>
                  <a:sym typeface="Montserrat Bold"/>
                </a:rPr>
                <a:t>Çoğul</a:t>
              </a:r>
              <a:endParaRPr lang="en-US" sz="2300" b="1" err="1">
                <a:solidFill>
                  <a:srgbClr val="FFFFFF"/>
                </a:solidFill>
                <a:latin typeface="Montserrat Bold"/>
                <a:ea typeface="Montserrat Bold"/>
                <a:cs typeface="Montserrat Bold"/>
              </a:endParaRPr>
            </a:p>
          </p:txBody>
        </p:sp>
      </p:grpSp>
      <p:grpSp>
        <p:nvGrpSpPr>
          <p:cNvPr id="16" name="Group 16"/>
          <p:cNvGrpSpPr>
            <a:grpSpLocks noChangeAspect="1"/>
          </p:cNvGrpSpPr>
          <p:nvPr/>
        </p:nvGrpSpPr>
        <p:grpSpPr>
          <a:xfrm>
            <a:off x="876526" y="2869246"/>
            <a:ext cx="3141499" cy="3141499"/>
            <a:chOff x="0" y="0"/>
            <a:chExt cx="14840029" cy="14840029"/>
          </a:xfrm>
        </p:grpSpPr>
        <p:sp>
          <p:nvSpPr>
            <p:cNvPr id="17" name="Freeform 17"/>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p:spPr>
          <p:txBody>
            <a:bodyPr/>
            <a:lstStyle/>
            <a:p>
              <a:endParaRPr lang="en-US"/>
            </a:p>
          </p:txBody>
        </p:sp>
        <p:sp>
          <p:nvSpPr>
            <p:cNvPr id="18" name="Freeform 18"/>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p:spPr>
          <p:txBody>
            <a:bodyPr/>
            <a:lstStyle/>
            <a:p>
              <a:endParaRPr lang="en-US"/>
            </a:p>
          </p:txBody>
        </p:sp>
        <p:sp>
          <p:nvSpPr>
            <p:cNvPr id="19" name="Freeform 19"/>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5"/>
              <a:stretch>
                <a:fillRect l="-8517" t="-8779" r="-7746" b="-8004"/>
              </a:stretch>
            </a:blipFill>
          </p:spPr>
          <p:txBody>
            <a:bodyPr/>
            <a:lstStyle/>
            <a:p>
              <a:endParaRPr lang="en-US"/>
            </a:p>
          </p:txBody>
        </p:sp>
      </p:grpSp>
      <p:sp>
        <p:nvSpPr>
          <p:cNvPr id="20" name="TextBox 20"/>
          <p:cNvSpPr txBox="1"/>
          <p:nvPr/>
        </p:nvSpPr>
        <p:spPr>
          <a:xfrm>
            <a:off x="11284539" y="6306115"/>
            <a:ext cx="181421" cy="396240"/>
          </a:xfrm>
          <a:prstGeom prst="rect">
            <a:avLst/>
          </a:prstGeom>
        </p:spPr>
        <p:txBody>
          <a:bodyPr lIns="0" tIns="0" rIns="0" bIns="0" rtlCol="0" anchor="t">
            <a:spAutoFit/>
          </a:bodyPr>
          <a:lstStyle/>
          <a:p>
            <a:pPr algn="ctr">
              <a:lnSpc>
                <a:spcPts val="3359"/>
              </a:lnSpc>
            </a:pPr>
            <a:r>
              <a:rPr lang="en-US" sz="2400" b="1">
                <a:solidFill>
                  <a:srgbClr val="F4F6FC"/>
                </a:solidFill>
                <a:latin typeface="Montserrat Bold"/>
                <a:ea typeface="Montserrat Bold"/>
                <a:cs typeface="Montserrat Bold"/>
                <a:sym typeface="Montserrat Bold"/>
              </a:rPr>
              <a:t>x</a:t>
            </a:r>
          </a:p>
        </p:txBody>
      </p:sp>
      <p:grpSp>
        <p:nvGrpSpPr>
          <p:cNvPr id="21" name="Group 21"/>
          <p:cNvGrpSpPr>
            <a:grpSpLocks noChangeAspect="1"/>
          </p:cNvGrpSpPr>
          <p:nvPr/>
        </p:nvGrpSpPr>
        <p:grpSpPr>
          <a:xfrm>
            <a:off x="5342000" y="2869246"/>
            <a:ext cx="3141499" cy="3141499"/>
            <a:chOff x="0" y="0"/>
            <a:chExt cx="14840029" cy="14840029"/>
          </a:xfrm>
        </p:grpSpPr>
        <p:sp>
          <p:nvSpPr>
            <p:cNvPr id="22" name="Freeform 22"/>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p:spPr>
          <p:txBody>
            <a:bodyPr/>
            <a:lstStyle/>
            <a:p>
              <a:endParaRPr lang="en-US"/>
            </a:p>
          </p:txBody>
        </p:sp>
        <p:sp>
          <p:nvSpPr>
            <p:cNvPr id="23" name="Freeform 23"/>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p:spPr>
          <p:txBody>
            <a:bodyPr/>
            <a:lstStyle/>
            <a:p>
              <a:endParaRPr lang="en-US"/>
            </a:p>
          </p:txBody>
        </p:sp>
        <p:sp>
          <p:nvSpPr>
            <p:cNvPr id="24" name="Freeform 24"/>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6"/>
              <a:stretch>
                <a:fillRect l="223" t="-12548" r="223" b="-65227"/>
              </a:stretch>
            </a:blipFill>
          </p:spPr>
          <p:txBody>
            <a:bodyPr/>
            <a:lstStyle/>
            <a:p>
              <a:endParaRPr lang="en-US"/>
            </a:p>
          </p:txBody>
        </p:sp>
      </p:grpSp>
      <p:grpSp>
        <p:nvGrpSpPr>
          <p:cNvPr id="25" name="Group 25"/>
          <p:cNvGrpSpPr/>
          <p:nvPr/>
        </p:nvGrpSpPr>
        <p:grpSpPr>
          <a:xfrm>
            <a:off x="5013116" y="6129837"/>
            <a:ext cx="3854353" cy="742429"/>
            <a:chOff x="0" y="-30660"/>
            <a:chExt cx="1187051" cy="228651"/>
          </a:xfrm>
        </p:grpSpPr>
        <p:sp>
          <p:nvSpPr>
            <p:cNvPr id="26" name="Freeform 26"/>
            <p:cNvSpPr/>
            <p:nvPr/>
          </p:nvSpPr>
          <p:spPr>
            <a:xfrm>
              <a:off x="0" y="0"/>
              <a:ext cx="1170086" cy="181026"/>
            </a:xfrm>
            <a:custGeom>
              <a:avLst/>
              <a:gdLst/>
              <a:ahLst/>
              <a:cxnLst/>
              <a:rect l="l" t="t" r="r" b="b"/>
              <a:pathLst>
                <a:path w="1170086" h="181026">
                  <a:moveTo>
                    <a:pt x="90513" y="0"/>
                  </a:moveTo>
                  <a:lnTo>
                    <a:pt x="1079573" y="0"/>
                  </a:lnTo>
                  <a:cubicBezTo>
                    <a:pt x="1103579" y="0"/>
                    <a:pt x="1126601" y="9536"/>
                    <a:pt x="1143576" y="26511"/>
                  </a:cubicBezTo>
                  <a:cubicBezTo>
                    <a:pt x="1160550" y="43485"/>
                    <a:pt x="1170086" y="66507"/>
                    <a:pt x="1170086" y="90513"/>
                  </a:cubicBezTo>
                  <a:lnTo>
                    <a:pt x="1170086" y="90513"/>
                  </a:lnTo>
                  <a:cubicBezTo>
                    <a:pt x="1170086" y="114518"/>
                    <a:pt x="1160550" y="137541"/>
                    <a:pt x="1143576" y="154515"/>
                  </a:cubicBezTo>
                  <a:cubicBezTo>
                    <a:pt x="1126601" y="171490"/>
                    <a:pt x="1103579" y="181026"/>
                    <a:pt x="1079573" y="181026"/>
                  </a:cubicBezTo>
                  <a:lnTo>
                    <a:pt x="90513" y="181026"/>
                  </a:lnTo>
                  <a:cubicBezTo>
                    <a:pt x="66507" y="181026"/>
                    <a:pt x="43485" y="171490"/>
                    <a:pt x="26511" y="154515"/>
                  </a:cubicBezTo>
                  <a:cubicBezTo>
                    <a:pt x="9536" y="137541"/>
                    <a:pt x="0" y="114518"/>
                    <a:pt x="0" y="90513"/>
                  </a:cubicBezTo>
                  <a:lnTo>
                    <a:pt x="0" y="90513"/>
                  </a:lnTo>
                  <a:cubicBezTo>
                    <a:pt x="0" y="66507"/>
                    <a:pt x="9536" y="43485"/>
                    <a:pt x="26511" y="26511"/>
                  </a:cubicBezTo>
                  <a:cubicBezTo>
                    <a:pt x="43485" y="9536"/>
                    <a:pt x="66507" y="0"/>
                    <a:pt x="90513" y="0"/>
                  </a:cubicBezTo>
                  <a:close/>
                </a:path>
              </a:pathLst>
            </a:custGeom>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a:ln cap="rnd">
              <a:noFill/>
              <a:prstDash val="solid"/>
              <a:round/>
            </a:ln>
          </p:spPr>
          <p:txBody>
            <a:bodyPr/>
            <a:lstStyle/>
            <a:p>
              <a:endParaRPr lang="en-US"/>
            </a:p>
          </p:txBody>
        </p:sp>
        <p:sp>
          <p:nvSpPr>
            <p:cNvPr id="27" name="TextBox 27"/>
            <p:cNvSpPr txBox="1"/>
            <p:nvPr/>
          </p:nvSpPr>
          <p:spPr>
            <a:xfrm>
              <a:off x="16965" y="-30660"/>
              <a:ext cx="1170086" cy="228651"/>
            </a:xfrm>
            <a:prstGeom prst="rect">
              <a:avLst/>
            </a:prstGeom>
          </p:spPr>
          <p:txBody>
            <a:bodyPr lIns="0" tIns="0" rIns="0" bIns="0" rtlCol="0" anchor="ctr"/>
            <a:lstStyle/>
            <a:p>
              <a:pPr algn="ctr">
                <a:lnSpc>
                  <a:spcPts val="3220"/>
                </a:lnSpc>
              </a:pPr>
              <a:r>
                <a:rPr lang="en-US" sz="2300" b="1">
                  <a:solidFill>
                    <a:srgbClr val="FFFFFF"/>
                  </a:solidFill>
                  <a:latin typeface="Montserrat Bold"/>
                  <a:ea typeface="Montserrat Bold"/>
                  <a:cs typeface="Montserrat Bold"/>
                  <a:sym typeface="Montserrat Bold"/>
                </a:rPr>
                <a:t>Elif Yılmaz</a:t>
              </a:r>
            </a:p>
          </p:txBody>
        </p:sp>
      </p:grpSp>
      <p:grpSp>
        <p:nvGrpSpPr>
          <p:cNvPr id="28" name="Group 28"/>
          <p:cNvGrpSpPr/>
          <p:nvPr/>
        </p:nvGrpSpPr>
        <p:grpSpPr>
          <a:xfrm>
            <a:off x="9475616" y="6093693"/>
            <a:ext cx="3799268" cy="742429"/>
            <a:chOff x="0" y="-26419"/>
            <a:chExt cx="1170086" cy="228651"/>
          </a:xfrm>
        </p:grpSpPr>
        <p:sp>
          <p:nvSpPr>
            <p:cNvPr id="29" name="Freeform 29"/>
            <p:cNvSpPr/>
            <p:nvPr/>
          </p:nvSpPr>
          <p:spPr>
            <a:xfrm>
              <a:off x="0" y="0"/>
              <a:ext cx="1170086" cy="181026"/>
            </a:xfrm>
            <a:custGeom>
              <a:avLst/>
              <a:gdLst/>
              <a:ahLst/>
              <a:cxnLst/>
              <a:rect l="l" t="t" r="r" b="b"/>
              <a:pathLst>
                <a:path w="1170086" h="181026">
                  <a:moveTo>
                    <a:pt x="90513" y="0"/>
                  </a:moveTo>
                  <a:lnTo>
                    <a:pt x="1079573" y="0"/>
                  </a:lnTo>
                  <a:cubicBezTo>
                    <a:pt x="1103579" y="0"/>
                    <a:pt x="1126601" y="9536"/>
                    <a:pt x="1143576" y="26511"/>
                  </a:cubicBezTo>
                  <a:cubicBezTo>
                    <a:pt x="1160550" y="43485"/>
                    <a:pt x="1170086" y="66507"/>
                    <a:pt x="1170086" y="90513"/>
                  </a:cubicBezTo>
                  <a:lnTo>
                    <a:pt x="1170086" y="90513"/>
                  </a:lnTo>
                  <a:cubicBezTo>
                    <a:pt x="1170086" y="114518"/>
                    <a:pt x="1160550" y="137541"/>
                    <a:pt x="1143576" y="154515"/>
                  </a:cubicBezTo>
                  <a:cubicBezTo>
                    <a:pt x="1126601" y="171490"/>
                    <a:pt x="1103579" y="181026"/>
                    <a:pt x="1079573" y="181026"/>
                  </a:cubicBezTo>
                  <a:lnTo>
                    <a:pt x="90513" y="181026"/>
                  </a:lnTo>
                  <a:cubicBezTo>
                    <a:pt x="66507" y="181026"/>
                    <a:pt x="43485" y="171490"/>
                    <a:pt x="26511" y="154515"/>
                  </a:cubicBezTo>
                  <a:cubicBezTo>
                    <a:pt x="9536" y="137541"/>
                    <a:pt x="0" y="114518"/>
                    <a:pt x="0" y="90513"/>
                  </a:cubicBezTo>
                  <a:lnTo>
                    <a:pt x="0" y="90513"/>
                  </a:lnTo>
                  <a:cubicBezTo>
                    <a:pt x="0" y="66507"/>
                    <a:pt x="9536" y="43485"/>
                    <a:pt x="26511" y="26511"/>
                  </a:cubicBezTo>
                  <a:cubicBezTo>
                    <a:pt x="43485" y="9536"/>
                    <a:pt x="66507" y="0"/>
                    <a:pt x="90513" y="0"/>
                  </a:cubicBezTo>
                  <a:close/>
                </a:path>
              </a:pathLst>
            </a:custGeom>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a:ln cap="rnd">
              <a:noFill/>
              <a:prstDash val="solid"/>
              <a:round/>
            </a:ln>
          </p:spPr>
          <p:txBody>
            <a:bodyPr/>
            <a:lstStyle/>
            <a:p>
              <a:endParaRPr lang="en-US"/>
            </a:p>
          </p:txBody>
        </p:sp>
        <p:sp>
          <p:nvSpPr>
            <p:cNvPr id="30" name="TextBox 30"/>
            <p:cNvSpPr txBox="1"/>
            <p:nvPr/>
          </p:nvSpPr>
          <p:spPr>
            <a:xfrm>
              <a:off x="0" y="-26419"/>
              <a:ext cx="1170086" cy="228651"/>
            </a:xfrm>
            <a:prstGeom prst="rect">
              <a:avLst/>
            </a:prstGeom>
          </p:spPr>
          <p:txBody>
            <a:bodyPr lIns="0" tIns="0" rIns="0" bIns="0" rtlCol="0" anchor="ctr"/>
            <a:lstStyle/>
            <a:p>
              <a:pPr algn="ctr">
                <a:lnSpc>
                  <a:spcPts val="3220"/>
                </a:lnSpc>
              </a:pPr>
              <a:r>
                <a:rPr lang="en-US" sz="2300" b="1">
                  <a:solidFill>
                    <a:srgbClr val="FFFFFF"/>
                  </a:solidFill>
                  <a:latin typeface="Montserrat Bold"/>
                  <a:ea typeface="Montserrat Bold"/>
                  <a:cs typeface="Montserrat Bold"/>
                  <a:sym typeface="Montserrat Bold"/>
                </a:rPr>
                <a:t>Harun İder</a:t>
              </a:r>
            </a:p>
          </p:txBody>
        </p:sp>
      </p:grpSp>
      <p:grpSp>
        <p:nvGrpSpPr>
          <p:cNvPr id="31" name="Group 31"/>
          <p:cNvGrpSpPr/>
          <p:nvPr/>
        </p:nvGrpSpPr>
        <p:grpSpPr>
          <a:xfrm>
            <a:off x="13941091" y="6093693"/>
            <a:ext cx="3854353" cy="742429"/>
            <a:chOff x="0" y="-26419"/>
            <a:chExt cx="1187051" cy="228651"/>
          </a:xfrm>
        </p:grpSpPr>
        <p:sp>
          <p:nvSpPr>
            <p:cNvPr id="32" name="Freeform 32"/>
            <p:cNvSpPr/>
            <p:nvPr/>
          </p:nvSpPr>
          <p:spPr>
            <a:xfrm>
              <a:off x="0" y="0"/>
              <a:ext cx="1170086" cy="181026"/>
            </a:xfrm>
            <a:custGeom>
              <a:avLst/>
              <a:gdLst/>
              <a:ahLst/>
              <a:cxnLst/>
              <a:rect l="l" t="t" r="r" b="b"/>
              <a:pathLst>
                <a:path w="1170086" h="181026">
                  <a:moveTo>
                    <a:pt x="90513" y="0"/>
                  </a:moveTo>
                  <a:lnTo>
                    <a:pt x="1079573" y="0"/>
                  </a:lnTo>
                  <a:cubicBezTo>
                    <a:pt x="1103579" y="0"/>
                    <a:pt x="1126601" y="9536"/>
                    <a:pt x="1143576" y="26511"/>
                  </a:cubicBezTo>
                  <a:cubicBezTo>
                    <a:pt x="1160550" y="43485"/>
                    <a:pt x="1170086" y="66507"/>
                    <a:pt x="1170086" y="90513"/>
                  </a:cubicBezTo>
                  <a:lnTo>
                    <a:pt x="1170086" y="90513"/>
                  </a:lnTo>
                  <a:cubicBezTo>
                    <a:pt x="1170086" y="114518"/>
                    <a:pt x="1160550" y="137541"/>
                    <a:pt x="1143576" y="154515"/>
                  </a:cubicBezTo>
                  <a:cubicBezTo>
                    <a:pt x="1126601" y="171490"/>
                    <a:pt x="1103579" y="181026"/>
                    <a:pt x="1079573" y="181026"/>
                  </a:cubicBezTo>
                  <a:lnTo>
                    <a:pt x="90513" y="181026"/>
                  </a:lnTo>
                  <a:cubicBezTo>
                    <a:pt x="66507" y="181026"/>
                    <a:pt x="43485" y="171490"/>
                    <a:pt x="26511" y="154515"/>
                  </a:cubicBezTo>
                  <a:cubicBezTo>
                    <a:pt x="9536" y="137541"/>
                    <a:pt x="0" y="114518"/>
                    <a:pt x="0" y="90513"/>
                  </a:cubicBezTo>
                  <a:lnTo>
                    <a:pt x="0" y="90513"/>
                  </a:lnTo>
                  <a:cubicBezTo>
                    <a:pt x="0" y="66507"/>
                    <a:pt x="9536" y="43485"/>
                    <a:pt x="26511" y="26511"/>
                  </a:cubicBezTo>
                  <a:cubicBezTo>
                    <a:pt x="43485" y="9536"/>
                    <a:pt x="66507" y="0"/>
                    <a:pt x="90513" y="0"/>
                  </a:cubicBezTo>
                  <a:close/>
                </a:path>
              </a:pathLst>
            </a:custGeom>
            <a:gradFill rotWithShape="1">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r="100000" b="100000"/>
              </a:path>
              <a:tileRect l="-100000" t="-100000"/>
            </a:gradFill>
            <a:ln cap="rnd">
              <a:noFill/>
              <a:prstDash val="solid"/>
              <a:round/>
            </a:ln>
          </p:spPr>
          <p:txBody>
            <a:bodyPr/>
            <a:lstStyle/>
            <a:p>
              <a:endParaRPr lang="en-US"/>
            </a:p>
          </p:txBody>
        </p:sp>
        <p:sp>
          <p:nvSpPr>
            <p:cNvPr id="33" name="TextBox 33"/>
            <p:cNvSpPr txBox="1"/>
            <p:nvPr/>
          </p:nvSpPr>
          <p:spPr>
            <a:xfrm>
              <a:off x="16965" y="-26419"/>
              <a:ext cx="1170086" cy="228651"/>
            </a:xfrm>
            <a:prstGeom prst="rect">
              <a:avLst/>
            </a:prstGeom>
          </p:spPr>
          <p:txBody>
            <a:bodyPr lIns="0" tIns="0" rIns="0" bIns="0" rtlCol="0" anchor="ctr"/>
            <a:lstStyle/>
            <a:p>
              <a:pPr algn="ctr">
                <a:lnSpc>
                  <a:spcPts val="3220"/>
                </a:lnSpc>
              </a:pPr>
              <a:r>
                <a:rPr lang="en-US" sz="2300" b="1" err="1">
                  <a:solidFill>
                    <a:srgbClr val="FFFFFF"/>
                  </a:solidFill>
                  <a:latin typeface="Montserrat Bold"/>
                  <a:ea typeface="Montserrat Bold"/>
                  <a:cs typeface="Montserrat Bold"/>
                  <a:sym typeface="Montserrat Bold"/>
                </a:rPr>
                <a:t>Gülendam</a:t>
              </a:r>
              <a:r>
                <a:rPr lang="en-US" sz="2300" b="1">
                  <a:solidFill>
                    <a:srgbClr val="FFFFFF"/>
                  </a:solidFill>
                  <a:latin typeface="Montserrat Bold"/>
                  <a:ea typeface="Montserrat Bold"/>
                  <a:cs typeface="Montserrat Bold"/>
                  <a:sym typeface="Montserrat Bold"/>
                </a:rPr>
                <a:t> Çetin</a:t>
              </a:r>
            </a:p>
          </p:txBody>
        </p:sp>
      </p:grpSp>
      <p:sp>
        <p:nvSpPr>
          <p:cNvPr id="34" name="TextBox 34"/>
          <p:cNvSpPr txBox="1"/>
          <p:nvPr/>
        </p:nvSpPr>
        <p:spPr>
          <a:xfrm>
            <a:off x="14464427" y="7883810"/>
            <a:ext cx="4196064" cy="356356"/>
          </a:xfrm>
          <a:prstGeom prst="rect">
            <a:avLst/>
          </a:prstGeom>
        </p:spPr>
        <p:txBody>
          <a:bodyPr lIns="0" tIns="0" rIns="0" bIns="0" rtlCol="0" anchor="t">
            <a:spAutoFit/>
          </a:bodyPr>
          <a:lstStyle/>
          <a:p>
            <a:pPr algn="just">
              <a:lnSpc>
                <a:spcPts val="3081"/>
              </a:lnSpc>
            </a:pPr>
            <a:endParaRPr/>
          </a:p>
        </p:txBody>
      </p:sp>
      <p:sp>
        <p:nvSpPr>
          <p:cNvPr id="35" name="TextBox 35"/>
          <p:cNvSpPr txBox="1"/>
          <p:nvPr/>
        </p:nvSpPr>
        <p:spPr>
          <a:xfrm>
            <a:off x="599553" y="6995865"/>
            <a:ext cx="3695445" cy="421962"/>
          </a:xfrm>
          <a:prstGeom prst="rect">
            <a:avLst/>
          </a:prstGeom>
        </p:spPr>
        <p:txBody>
          <a:bodyPr lIns="0" tIns="0" rIns="0" bIns="0" rtlCol="0" anchor="t">
            <a:spAutoFit/>
          </a:bodyPr>
          <a:lstStyle/>
          <a:p>
            <a:pPr algn="ctr">
              <a:lnSpc>
                <a:spcPts val="3600"/>
              </a:lnSpc>
            </a:pPr>
            <a:r>
              <a:rPr lang="en-US" sz="2081" b="1">
                <a:solidFill>
                  <a:srgbClr val="000000"/>
                </a:solidFill>
                <a:latin typeface="Montserrat Bold"/>
                <a:ea typeface="Montserrat Bold"/>
                <a:cs typeface="Montserrat Bold"/>
                <a:sym typeface="Montserrat Bold"/>
              </a:rPr>
              <a:t>Frontend Ekibi</a:t>
            </a:r>
          </a:p>
        </p:txBody>
      </p:sp>
      <p:sp>
        <p:nvSpPr>
          <p:cNvPr id="36" name="TextBox 36"/>
          <p:cNvSpPr txBox="1"/>
          <p:nvPr/>
        </p:nvSpPr>
        <p:spPr>
          <a:xfrm>
            <a:off x="6427080" y="406594"/>
            <a:ext cx="5433840" cy="1057275"/>
          </a:xfrm>
          <a:prstGeom prst="rect">
            <a:avLst/>
          </a:prstGeom>
        </p:spPr>
        <p:txBody>
          <a:bodyPr lIns="0" tIns="0" rIns="0" bIns="0" rtlCol="0" anchor="t">
            <a:spAutoFit/>
          </a:bodyPr>
          <a:lstStyle/>
          <a:p>
            <a:pPr marL="0" lvl="0" indent="0" algn="ctr">
              <a:lnSpc>
                <a:spcPts val="8299"/>
              </a:lnSpc>
              <a:spcBef>
                <a:spcPct val="0"/>
              </a:spcBef>
            </a:pPr>
            <a:r>
              <a:rPr lang="en-US" sz="6916" b="1">
                <a:solidFill>
                  <a:srgbClr val="F4F6FC"/>
                </a:solidFill>
                <a:latin typeface="Roboto Bold"/>
                <a:ea typeface="Roboto Bold"/>
                <a:cs typeface="Roboto Bold"/>
                <a:sym typeface="Roboto Bold"/>
              </a:rPr>
              <a:t>Takımımız</a:t>
            </a:r>
          </a:p>
        </p:txBody>
      </p:sp>
      <p:sp>
        <p:nvSpPr>
          <p:cNvPr id="37" name="TextBox 37"/>
          <p:cNvSpPr txBox="1"/>
          <p:nvPr/>
        </p:nvSpPr>
        <p:spPr>
          <a:xfrm>
            <a:off x="5063540" y="6995865"/>
            <a:ext cx="3695445" cy="421962"/>
          </a:xfrm>
          <a:prstGeom prst="rect">
            <a:avLst/>
          </a:prstGeom>
        </p:spPr>
        <p:txBody>
          <a:bodyPr lIns="0" tIns="0" rIns="0" bIns="0" rtlCol="0" anchor="t">
            <a:spAutoFit/>
          </a:bodyPr>
          <a:lstStyle/>
          <a:p>
            <a:pPr algn="ctr">
              <a:lnSpc>
                <a:spcPts val="3600"/>
              </a:lnSpc>
            </a:pPr>
            <a:r>
              <a:rPr lang="en-US" sz="2081" b="1">
                <a:solidFill>
                  <a:srgbClr val="000000"/>
                </a:solidFill>
                <a:latin typeface="Montserrat Bold"/>
                <a:ea typeface="Montserrat Bold"/>
                <a:cs typeface="Montserrat Bold"/>
                <a:sym typeface="Montserrat Bold"/>
              </a:rPr>
              <a:t>Frontend Ekibi</a:t>
            </a:r>
          </a:p>
        </p:txBody>
      </p:sp>
      <p:sp>
        <p:nvSpPr>
          <p:cNvPr id="38" name="TextBox 38"/>
          <p:cNvSpPr txBox="1"/>
          <p:nvPr/>
        </p:nvSpPr>
        <p:spPr>
          <a:xfrm>
            <a:off x="9527528" y="6995865"/>
            <a:ext cx="3695445" cy="421962"/>
          </a:xfrm>
          <a:prstGeom prst="rect">
            <a:avLst/>
          </a:prstGeom>
        </p:spPr>
        <p:txBody>
          <a:bodyPr lIns="0" tIns="0" rIns="0" bIns="0" rtlCol="0" anchor="t">
            <a:spAutoFit/>
          </a:bodyPr>
          <a:lstStyle/>
          <a:p>
            <a:pPr algn="ctr">
              <a:lnSpc>
                <a:spcPts val="3600"/>
              </a:lnSpc>
            </a:pPr>
            <a:r>
              <a:rPr lang="en-US" sz="2081" b="1">
                <a:solidFill>
                  <a:srgbClr val="000000"/>
                </a:solidFill>
                <a:latin typeface="Montserrat Bold"/>
                <a:ea typeface="Montserrat Bold"/>
                <a:cs typeface="Montserrat Bold"/>
                <a:sym typeface="Montserrat Bold"/>
              </a:rPr>
              <a:t>Backend Ekibi</a:t>
            </a:r>
          </a:p>
        </p:txBody>
      </p:sp>
      <p:sp>
        <p:nvSpPr>
          <p:cNvPr id="39" name="TextBox 39"/>
          <p:cNvSpPr txBox="1"/>
          <p:nvPr/>
        </p:nvSpPr>
        <p:spPr>
          <a:xfrm>
            <a:off x="13993002" y="6995865"/>
            <a:ext cx="3695445" cy="421962"/>
          </a:xfrm>
          <a:prstGeom prst="rect">
            <a:avLst/>
          </a:prstGeom>
        </p:spPr>
        <p:txBody>
          <a:bodyPr lIns="0" tIns="0" rIns="0" bIns="0" rtlCol="0" anchor="t">
            <a:spAutoFit/>
          </a:bodyPr>
          <a:lstStyle/>
          <a:p>
            <a:pPr algn="ctr">
              <a:lnSpc>
                <a:spcPts val="3600"/>
              </a:lnSpc>
            </a:pPr>
            <a:r>
              <a:rPr lang="en-US" sz="2081" b="1">
                <a:solidFill>
                  <a:srgbClr val="000000"/>
                </a:solidFill>
                <a:latin typeface="Montserrat Bold"/>
                <a:ea typeface="Montserrat Bold"/>
                <a:cs typeface="Montserrat Bold"/>
                <a:sym typeface="Montserrat Bold"/>
              </a:rPr>
              <a:t>Backend Ekibi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657136" y="5587319"/>
            <a:ext cx="3800330" cy="860571"/>
          </a:xfrm>
          <a:prstGeom prst="rect">
            <a:avLst/>
          </a:prstGeom>
        </p:spPr>
        <p:txBody>
          <a:bodyPr lIns="0" tIns="0" rIns="0" bIns="0" rtlCol="0" anchor="t">
            <a:spAutoFit/>
          </a:bodyPr>
          <a:lstStyle/>
          <a:p>
            <a:pPr algn="ctr">
              <a:lnSpc>
                <a:spcPts val="3475"/>
              </a:lnSpc>
            </a:pPr>
            <a:r>
              <a:rPr lang="en-US" sz="2482" b="1">
                <a:solidFill>
                  <a:srgbClr val="000000"/>
                </a:solidFill>
                <a:latin typeface="Arimo Bold"/>
                <a:ea typeface="Arimo Bold"/>
                <a:cs typeface="Arimo Bold"/>
                <a:sym typeface="Arimo Bold"/>
              </a:rPr>
              <a:t>ASP .NET Identity + JWT Authentication</a:t>
            </a:r>
          </a:p>
        </p:txBody>
      </p:sp>
      <p:sp>
        <p:nvSpPr>
          <p:cNvPr id="3" name="Freeform 3"/>
          <p:cNvSpPr/>
          <p:nvPr/>
        </p:nvSpPr>
        <p:spPr>
          <a:xfrm>
            <a:off x="1235945" y="3458949"/>
            <a:ext cx="1954624" cy="1862224"/>
          </a:xfrm>
          <a:custGeom>
            <a:avLst/>
            <a:gdLst/>
            <a:ahLst/>
            <a:cxnLst/>
            <a:rect l="l" t="t" r="r" b="b"/>
            <a:pathLst>
              <a:path w="1954624" h="1862224">
                <a:moveTo>
                  <a:pt x="0" y="0"/>
                </a:moveTo>
                <a:lnTo>
                  <a:pt x="1954624" y="0"/>
                </a:lnTo>
                <a:lnTo>
                  <a:pt x="1954624" y="1862224"/>
                </a:lnTo>
                <a:lnTo>
                  <a:pt x="0" y="186222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4306837" y="3292661"/>
            <a:ext cx="2370384" cy="2194800"/>
          </a:xfrm>
          <a:custGeom>
            <a:avLst/>
            <a:gdLst/>
            <a:ahLst/>
            <a:cxnLst/>
            <a:rect l="l" t="t" r="r" b="b"/>
            <a:pathLst>
              <a:path w="2370384" h="2194800">
                <a:moveTo>
                  <a:pt x="0" y="0"/>
                </a:moveTo>
                <a:lnTo>
                  <a:pt x="2370384" y="0"/>
                </a:lnTo>
                <a:lnTo>
                  <a:pt x="2370384" y="2194800"/>
                </a:lnTo>
                <a:lnTo>
                  <a:pt x="0" y="2194800"/>
                </a:lnTo>
                <a:lnTo>
                  <a:pt x="0" y="0"/>
                </a:lnTo>
                <a:close/>
              </a:path>
            </a:pathLst>
          </a:custGeom>
          <a:blipFill>
            <a:blip r:embed="rId5"/>
            <a:stretch>
              <a:fillRect/>
            </a:stretch>
          </a:blipFill>
        </p:spPr>
        <p:txBody>
          <a:bodyPr/>
          <a:lstStyle/>
          <a:p>
            <a:endParaRPr lang="en-US"/>
          </a:p>
        </p:txBody>
      </p:sp>
      <p:sp>
        <p:nvSpPr>
          <p:cNvPr id="5" name="Freeform 5"/>
          <p:cNvSpPr/>
          <p:nvPr/>
        </p:nvSpPr>
        <p:spPr>
          <a:xfrm>
            <a:off x="7375918" y="3639180"/>
            <a:ext cx="2703872" cy="1501761"/>
          </a:xfrm>
          <a:custGeom>
            <a:avLst/>
            <a:gdLst/>
            <a:ahLst/>
            <a:cxnLst/>
            <a:rect l="l" t="t" r="r" b="b"/>
            <a:pathLst>
              <a:path w="2703872" h="1501761">
                <a:moveTo>
                  <a:pt x="0" y="0"/>
                </a:moveTo>
                <a:lnTo>
                  <a:pt x="2703871" y="0"/>
                </a:lnTo>
                <a:lnTo>
                  <a:pt x="2703871" y="1501761"/>
                </a:lnTo>
                <a:lnTo>
                  <a:pt x="0" y="1501761"/>
                </a:lnTo>
                <a:lnTo>
                  <a:pt x="0" y="0"/>
                </a:lnTo>
                <a:close/>
              </a:path>
            </a:pathLst>
          </a:custGeom>
          <a:blipFill>
            <a:blip r:embed="rId6"/>
            <a:stretch>
              <a:fillRect l="-5322" r="-6100"/>
            </a:stretch>
          </a:blipFill>
        </p:spPr>
        <p:txBody>
          <a:bodyPr/>
          <a:lstStyle/>
          <a:p>
            <a:endParaRPr lang="en-US"/>
          </a:p>
        </p:txBody>
      </p:sp>
      <p:sp>
        <p:nvSpPr>
          <p:cNvPr id="6" name="Freeform 6"/>
          <p:cNvSpPr/>
          <p:nvPr/>
        </p:nvSpPr>
        <p:spPr>
          <a:xfrm>
            <a:off x="10954633" y="3458949"/>
            <a:ext cx="2223551" cy="1862224"/>
          </a:xfrm>
          <a:custGeom>
            <a:avLst/>
            <a:gdLst/>
            <a:ahLst/>
            <a:cxnLst/>
            <a:rect l="l" t="t" r="r" b="b"/>
            <a:pathLst>
              <a:path w="2223551" h="1862224">
                <a:moveTo>
                  <a:pt x="0" y="0"/>
                </a:moveTo>
                <a:lnTo>
                  <a:pt x="2223551" y="0"/>
                </a:lnTo>
                <a:lnTo>
                  <a:pt x="2223551" y="1862224"/>
                </a:lnTo>
                <a:lnTo>
                  <a:pt x="0" y="186222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a:off x="14570779" y="3458949"/>
            <a:ext cx="1973045" cy="2028512"/>
          </a:xfrm>
          <a:custGeom>
            <a:avLst/>
            <a:gdLst/>
            <a:ahLst/>
            <a:cxnLst/>
            <a:rect l="l" t="t" r="r" b="b"/>
            <a:pathLst>
              <a:path w="1973045" h="2028512">
                <a:moveTo>
                  <a:pt x="0" y="0"/>
                </a:moveTo>
                <a:lnTo>
                  <a:pt x="1973045" y="0"/>
                </a:lnTo>
                <a:lnTo>
                  <a:pt x="1973045" y="2028512"/>
                </a:lnTo>
                <a:lnTo>
                  <a:pt x="0" y="2028512"/>
                </a:lnTo>
                <a:lnTo>
                  <a:pt x="0" y="0"/>
                </a:lnTo>
                <a:close/>
              </a:path>
            </a:pathLst>
          </a:custGeom>
          <a:blipFill>
            <a:blip r:embed="rId9"/>
            <a:stretch>
              <a:fillRect l="-61345" t="-4865" r="-73162" b="-4254"/>
            </a:stretch>
          </a:blipFill>
        </p:spPr>
        <p:txBody>
          <a:bodyPr/>
          <a:lstStyle/>
          <a:p>
            <a:endParaRPr lang="en-US"/>
          </a:p>
        </p:txBody>
      </p:sp>
      <p:sp>
        <p:nvSpPr>
          <p:cNvPr id="8" name="TextBox 8"/>
          <p:cNvSpPr txBox="1"/>
          <p:nvPr/>
        </p:nvSpPr>
        <p:spPr>
          <a:xfrm>
            <a:off x="10313600" y="5803816"/>
            <a:ext cx="3093322" cy="427590"/>
          </a:xfrm>
          <a:prstGeom prst="rect">
            <a:avLst/>
          </a:prstGeom>
        </p:spPr>
        <p:txBody>
          <a:bodyPr lIns="0" tIns="0" rIns="0" bIns="0" rtlCol="0" anchor="t">
            <a:spAutoFit/>
          </a:bodyPr>
          <a:lstStyle/>
          <a:p>
            <a:pPr algn="ctr">
              <a:lnSpc>
                <a:spcPts val="3477"/>
              </a:lnSpc>
            </a:pPr>
            <a:r>
              <a:rPr lang="en-US" sz="2483" b="1">
                <a:solidFill>
                  <a:srgbClr val="000000"/>
                </a:solidFill>
                <a:latin typeface="Arimo Bold"/>
                <a:ea typeface="Arimo Bold"/>
                <a:cs typeface="Arimo Bold"/>
                <a:sym typeface="Arimo Bold"/>
              </a:rPr>
              <a:t>SQL Server</a:t>
            </a:r>
          </a:p>
        </p:txBody>
      </p:sp>
      <p:sp>
        <p:nvSpPr>
          <p:cNvPr id="9" name="TextBox 9"/>
          <p:cNvSpPr txBox="1"/>
          <p:nvPr/>
        </p:nvSpPr>
        <p:spPr>
          <a:xfrm>
            <a:off x="7432252" y="5803816"/>
            <a:ext cx="2591203" cy="427590"/>
          </a:xfrm>
          <a:prstGeom prst="rect">
            <a:avLst/>
          </a:prstGeom>
        </p:spPr>
        <p:txBody>
          <a:bodyPr lIns="0" tIns="0" rIns="0" bIns="0" rtlCol="0" anchor="t">
            <a:spAutoFit/>
          </a:bodyPr>
          <a:lstStyle/>
          <a:p>
            <a:pPr algn="ctr">
              <a:lnSpc>
                <a:spcPts val="3477"/>
              </a:lnSpc>
            </a:pPr>
            <a:r>
              <a:rPr lang="en-US" sz="2483" b="1">
                <a:solidFill>
                  <a:srgbClr val="000000"/>
                </a:solidFill>
                <a:latin typeface="Arimo Bold"/>
                <a:ea typeface="Arimo Bold"/>
                <a:cs typeface="Arimo Bold"/>
                <a:sym typeface="Arimo Bold"/>
              </a:rPr>
              <a:t>Fluent Validation</a:t>
            </a:r>
          </a:p>
        </p:txBody>
      </p:sp>
      <p:sp>
        <p:nvSpPr>
          <p:cNvPr id="10" name="TextBox 10"/>
          <p:cNvSpPr txBox="1"/>
          <p:nvPr/>
        </p:nvSpPr>
        <p:spPr>
          <a:xfrm>
            <a:off x="4195074" y="5803816"/>
            <a:ext cx="2593910" cy="427590"/>
          </a:xfrm>
          <a:prstGeom prst="rect">
            <a:avLst/>
          </a:prstGeom>
        </p:spPr>
        <p:txBody>
          <a:bodyPr lIns="0" tIns="0" rIns="0" bIns="0" rtlCol="0" anchor="t">
            <a:spAutoFit/>
          </a:bodyPr>
          <a:lstStyle/>
          <a:p>
            <a:pPr algn="ctr">
              <a:lnSpc>
                <a:spcPts val="3477"/>
              </a:lnSpc>
            </a:pPr>
            <a:r>
              <a:rPr lang="en-US" sz="2483" b="1">
                <a:solidFill>
                  <a:srgbClr val="000000"/>
                </a:solidFill>
                <a:latin typeface="Arimo Bold"/>
                <a:ea typeface="Arimo Bold"/>
                <a:cs typeface="Arimo Bold"/>
                <a:sym typeface="Arimo Bold"/>
              </a:rPr>
              <a:t>AutoMapper</a:t>
            </a:r>
          </a:p>
        </p:txBody>
      </p:sp>
      <p:sp>
        <p:nvSpPr>
          <p:cNvPr id="11" name="TextBox 11"/>
          <p:cNvSpPr txBox="1"/>
          <p:nvPr/>
        </p:nvSpPr>
        <p:spPr>
          <a:xfrm>
            <a:off x="830533" y="5803816"/>
            <a:ext cx="2500401" cy="427590"/>
          </a:xfrm>
          <a:prstGeom prst="rect">
            <a:avLst/>
          </a:prstGeom>
        </p:spPr>
        <p:txBody>
          <a:bodyPr lIns="0" tIns="0" rIns="0" bIns="0" rtlCol="0" anchor="t">
            <a:spAutoFit/>
          </a:bodyPr>
          <a:lstStyle/>
          <a:p>
            <a:pPr algn="ctr">
              <a:lnSpc>
                <a:spcPts val="3477"/>
              </a:lnSpc>
            </a:pPr>
            <a:r>
              <a:rPr lang="en-US" sz="2483" b="1">
                <a:solidFill>
                  <a:srgbClr val="000000"/>
                </a:solidFill>
                <a:latin typeface="Arimo Bold"/>
                <a:ea typeface="Arimo Bold"/>
                <a:cs typeface="Arimo Bold"/>
                <a:sym typeface="Arimo Bold"/>
              </a:rPr>
              <a:t>.NET 8 WEB API</a:t>
            </a:r>
          </a:p>
        </p:txBody>
      </p:sp>
      <p:sp>
        <p:nvSpPr>
          <p:cNvPr id="12" name="TextBox 12"/>
          <p:cNvSpPr txBox="1"/>
          <p:nvPr/>
        </p:nvSpPr>
        <p:spPr>
          <a:xfrm>
            <a:off x="1786376" y="531696"/>
            <a:ext cx="14715248" cy="1057201"/>
          </a:xfrm>
          <a:prstGeom prst="rect">
            <a:avLst/>
          </a:prstGeom>
        </p:spPr>
        <p:txBody>
          <a:bodyPr lIns="0" tIns="0" rIns="0" bIns="0" rtlCol="0" anchor="t">
            <a:spAutoFit/>
          </a:bodyPr>
          <a:lstStyle/>
          <a:p>
            <a:pPr algn="ctr">
              <a:lnSpc>
                <a:spcPts val="8400"/>
              </a:lnSpc>
            </a:pPr>
            <a:r>
              <a:rPr lang="en-US" sz="6000" b="1">
                <a:solidFill>
                  <a:srgbClr val="D322FF"/>
                </a:solidFill>
                <a:latin typeface="Arimo Bold"/>
                <a:ea typeface="Arimo Bold"/>
                <a:cs typeface="Arimo Bold"/>
                <a:sym typeface="Arimo Bold"/>
              </a:rPr>
              <a:t>BACKEND </a:t>
            </a:r>
          </a:p>
        </p:txBody>
      </p:sp>
      <p:sp>
        <p:nvSpPr>
          <p:cNvPr id="13" name="Freeform 13"/>
          <p:cNvSpPr/>
          <p:nvPr/>
        </p:nvSpPr>
        <p:spPr>
          <a:xfrm flipH="1">
            <a:off x="10000749" y="5792367"/>
            <a:ext cx="8267719" cy="4494633"/>
          </a:xfrm>
          <a:custGeom>
            <a:avLst/>
            <a:gdLst/>
            <a:ahLst/>
            <a:cxnLst/>
            <a:rect l="l" t="t" r="r" b="b"/>
            <a:pathLst>
              <a:path w="8267719" h="4494633">
                <a:moveTo>
                  <a:pt x="8267719" y="0"/>
                </a:moveTo>
                <a:lnTo>
                  <a:pt x="0" y="0"/>
                </a:lnTo>
                <a:lnTo>
                  <a:pt x="0" y="4494633"/>
                </a:lnTo>
                <a:lnTo>
                  <a:pt x="8267719" y="4494633"/>
                </a:lnTo>
                <a:lnTo>
                  <a:pt x="8267719" y="0"/>
                </a:lnTo>
                <a:close/>
              </a:path>
            </a:pathLst>
          </a:custGeom>
          <a:blipFill>
            <a:blip r:embed="rId10">
              <a:extLst>
                <a:ext uri="{96DAC541-7B7A-43D3-8B79-37D633B846F1}">
                  <asvg:svgBlip xmlns:asvg="http://schemas.microsoft.com/office/drawing/2016/SVG/main" r:embed="rId11"/>
                </a:ext>
              </a:extLst>
            </a:blip>
            <a:stretch>
              <a:fillRect t="-273" b="-273"/>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7536833">
            <a:off x="-5002481" y="-3831777"/>
            <a:ext cx="9627545" cy="9651674"/>
            <a:chOff x="0" y="0"/>
            <a:chExt cx="12836727" cy="12868899"/>
          </a:xfrm>
        </p:grpSpPr>
        <p:sp>
          <p:nvSpPr>
            <p:cNvPr id="3" name="Freeform 3"/>
            <p:cNvSpPr/>
            <p:nvPr/>
          </p:nvSpPr>
          <p:spPr>
            <a:xfrm>
              <a:off x="0" y="0"/>
              <a:ext cx="12836779" cy="12868910"/>
            </a:xfrm>
            <a:custGeom>
              <a:avLst/>
              <a:gdLst/>
              <a:ahLst/>
              <a:cxnLst/>
              <a:rect l="l" t="t" r="r" b="b"/>
              <a:pathLst>
                <a:path w="12836779" h="12868910">
                  <a:moveTo>
                    <a:pt x="0" y="0"/>
                  </a:moveTo>
                  <a:lnTo>
                    <a:pt x="12836779" y="0"/>
                  </a:lnTo>
                  <a:lnTo>
                    <a:pt x="12836779" y="12868910"/>
                  </a:lnTo>
                  <a:lnTo>
                    <a:pt x="0" y="12868910"/>
                  </a:lnTo>
                  <a:lnTo>
                    <a:pt x="0" y="0"/>
                  </a:lnTo>
                  <a:close/>
                </a:path>
              </a:pathLst>
            </a:custGeom>
            <a:blipFill>
              <a:blip r:embed="rId3"/>
              <a:stretch>
                <a:fillRect t="-1" b="-1"/>
              </a:stretch>
            </a:blipFill>
          </p:spPr>
          <p:txBody>
            <a:bodyPr/>
            <a:lstStyle/>
            <a:p>
              <a:endParaRPr lang="en-US"/>
            </a:p>
          </p:txBody>
        </p:sp>
      </p:grpSp>
      <p:sp>
        <p:nvSpPr>
          <p:cNvPr id="4" name="Freeform 4"/>
          <p:cNvSpPr/>
          <p:nvPr/>
        </p:nvSpPr>
        <p:spPr>
          <a:xfrm>
            <a:off x="1028700" y="6012977"/>
            <a:ext cx="3615481" cy="3615481"/>
          </a:xfrm>
          <a:custGeom>
            <a:avLst/>
            <a:gdLst/>
            <a:ahLst/>
            <a:cxnLst/>
            <a:rect l="l" t="t" r="r" b="b"/>
            <a:pathLst>
              <a:path w="3615481" h="3615481">
                <a:moveTo>
                  <a:pt x="0" y="0"/>
                </a:moveTo>
                <a:lnTo>
                  <a:pt x="3615481" y="0"/>
                </a:lnTo>
                <a:lnTo>
                  <a:pt x="3615481" y="3615482"/>
                </a:lnTo>
                <a:lnTo>
                  <a:pt x="0" y="3615482"/>
                </a:lnTo>
                <a:lnTo>
                  <a:pt x="0" y="0"/>
                </a:lnTo>
                <a:close/>
              </a:path>
            </a:pathLst>
          </a:custGeom>
          <a:blipFill>
            <a:blip r:embed="rId4"/>
            <a:stretch>
              <a:fillRect/>
            </a:stretch>
          </a:blipFill>
        </p:spPr>
        <p:txBody>
          <a:bodyPr/>
          <a:lstStyle/>
          <a:p>
            <a:endParaRPr lang="en-US"/>
          </a:p>
        </p:txBody>
      </p:sp>
      <p:sp>
        <p:nvSpPr>
          <p:cNvPr id="5" name="Freeform 5"/>
          <p:cNvSpPr/>
          <p:nvPr/>
        </p:nvSpPr>
        <p:spPr>
          <a:xfrm rot="-5400000">
            <a:off x="5372498" y="1673154"/>
            <a:ext cx="1405923" cy="255622"/>
          </a:xfrm>
          <a:custGeom>
            <a:avLst/>
            <a:gdLst/>
            <a:ahLst/>
            <a:cxnLst/>
            <a:rect l="l" t="t" r="r" b="b"/>
            <a:pathLst>
              <a:path w="1405923" h="255622">
                <a:moveTo>
                  <a:pt x="0" y="0"/>
                </a:moveTo>
                <a:lnTo>
                  <a:pt x="1405923" y="0"/>
                </a:lnTo>
                <a:lnTo>
                  <a:pt x="1405923" y="255622"/>
                </a:lnTo>
                <a:lnTo>
                  <a:pt x="0" y="25562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TextBox 6"/>
          <p:cNvSpPr txBox="1"/>
          <p:nvPr/>
        </p:nvSpPr>
        <p:spPr>
          <a:xfrm>
            <a:off x="5947649" y="213939"/>
            <a:ext cx="11311651" cy="781050"/>
          </a:xfrm>
          <a:prstGeom prst="rect">
            <a:avLst/>
          </a:prstGeom>
        </p:spPr>
        <p:txBody>
          <a:bodyPr lIns="0" tIns="0" rIns="0" bIns="0" rtlCol="0" anchor="t">
            <a:spAutoFit/>
          </a:bodyPr>
          <a:lstStyle/>
          <a:p>
            <a:pPr algn="l">
              <a:lnSpc>
                <a:spcPts val="5427"/>
              </a:lnSpc>
            </a:pPr>
            <a:r>
              <a:rPr lang="en-US" sz="4522" b="1">
                <a:solidFill>
                  <a:srgbClr val="D322FF"/>
                </a:solidFill>
                <a:latin typeface="Times New Roman Bold"/>
                <a:ea typeface="Times New Roman Bold"/>
                <a:cs typeface="Times New Roman Bold"/>
                <a:sym typeface="Times New Roman Bold"/>
              </a:rPr>
              <a:t>Katmanlı Mimari:</a:t>
            </a:r>
          </a:p>
        </p:txBody>
      </p:sp>
      <p:sp>
        <p:nvSpPr>
          <p:cNvPr id="7" name="TextBox 7"/>
          <p:cNvSpPr txBox="1"/>
          <p:nvPr/>
        </p:nvSpPr>
        <p:spPr>
          <a:xfrm>
            <a:off x="6482732" y="1304833"/>
            <a:ext cx="1746868" cy="426720"/>
          </a:xfrm>
          <a:prstGeom prst="rect">
            <a:avLst/>
          </a:prstGeom>
        </p:spPr>
        <p:txBody>
          <a:bodyPr wrap="square" lIns="0" tIns="0" rIns="0" bIns="0" rtlCol="0" anchor="t">
            <a:spAutoFit/>
          </a:bodyPr>
          <a:lstStyle/>
          <a:p>
            <a:pPr algn="ctr">
              <a:lnSpc>
                <a:spcPts val="3477"/>
              </a:lnSpc>
              <a:spcBef>
                <a:spcPct val="0"/>
              </a:spcBef>
            </a:pPr>
            <a:r>
              <a:rPr lang="en-US" sz="2483" b="1" err="1">
                <a:solidFill>
                  <a:srgbClr val="000000"/>
                </a:solidFill>
                <a:latin typeface="Times New Roman Bold"/>
                <a:ea typeface="Times New Roman Bold"/>
                <a:cs typeface="Times New Roman Bold"/>
                <a:sym typeface="Times New Roman Bold"/>
              </a:rPr>
              <a:t>EntityLayer</a:t>
            </a:r>
            <a:endParaRPr lang="en-US" sz="2483" b="1">
              <a:solidFill>
                <a:srgbClr val="000000"/>
              </a:solidFill>
              <a:latin typeface="Times New Roman Bold"/>
              <a:ea typeface="Times New Roman Bold"/>
              <a:cs typeface="Times New Roman Bold"/>
              <a:sym typeface="Times New Roman Bold"/>
            </a:endParaRPr>
          </a:p>
        </p:txBody>
      </p:sp>
      <p:sp>
        <p:nvSpPr>
          <p:cNvPr id="8" name="Freeform 8"/>
          <p:cNvSpPr/>
          <p:nvPr/>
        </p:nvSpPr>
        <p:spPr>
          <a:xfrm rot="-5400000">
            <a:off x="6447900" y="4485000"/>
            <a:ext cx="1405923" cy="255622"/>
          </a:xfrm>
          <a:custGeom>
            <a:avLst/>
            <a:gdLst/>
            <a:ahLst/>
            <a:cxnLst/>
            <a:rect l="l" t="t" r="r" b="b"/>
            <a:pathLst>
              <a:path w="1405923" h="255622">
                <a:moveTo>
                  <a:pt x="0" y="0"/>
                </a:moveTo>
                <a:lnTo>
                  <a:pt x="1405923" y="0"/>
                </a:lnTo>
                <a:lnTo>
                  <a:pt x="1405923" y="255622"/>
                </a:lnTo>
                <a:lnTo>
                  <a:pt x="0" y="25562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9" name="Freeform 9"/>
          <p:cNvSpPr/>
          <p:nvPr/>
        </p:nvSpPr>
        <p:spPr>
          <a:xfrm rot="-5400000">
            <a:off x="5907582" y="3079077"/>
            <a:ext cx="1405923" cy="255622"/>
          </a:xfrm>
          <a:custGeom>
            <a:avLst/>
            <a:gdLst/>
            <a:ahLst/>
            <a:cxnLst/>
            <a:rect l="l" t="t" r="r" b="b"/>
            <a:pathLst>
              <a:path w="1405923" h="255622">
                <a:moveTo>
                  <a:pt x="0" y="0"/>
                </a:moveTo>
                <a:lnTo>
                  <a:pt x="1405923" y="0"/>
                </a:lnTo>
                <a:lnTo>
                  <a:pt x="1405923" y="255622"/>
                </a:lnTo>
                <a:lnTo>
                  <a:pt x="0" y="25562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Freeform 10"/>
          <p:cNvSpPr/>
          <p:nvPr/>
        </p:nvSpPr>
        <p:spPr>
          <a:xfrm rot="-5400000">
            <a:off x="6447900" y="5985840"/>
            <a:ext cx="1405923" cy="255622"/>
          </a:xfrm>
          <a:custGeom>
            <a:avLst/>
            <a:gdLst/>
            <a:ahLst/>
            <a:cxnLst/>
            <a:rect l="l" t="t" r="r" b="b"/>
            <a:pathLst>
              <a:path w="1405923" h="255622">
                <a:moveTo>
                  <a:pt x="0" y="0"/>
                </a:moveTo>
                <a:lnTo>
                  <a:pt x="1405923" y="0"/>
                </a:lnTo>
                <a:lnTo>
                  <a:pt x="1405923" y="255622"/>
                </a:lnTo>
                <a:lnTo>
                  <a:pt x="0" y="25562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1" name="Freeform 11"/>
          <p:cNvSpPr/>
          <p:nvPr/>
        </p:nvSpPr>
        <p:spPr>
          <a:xfrm rot="-5400000">
            <a:off x="5907582" y="7391763"/>
            <a:ext cx="1405923" cy="255622"/>
          </a:xfrm>
          <a:custGeom>
            <a:avLst/>
            <a:gdLst/>
            <a:ahLst/>
            <a:cxnLst/>
            <a:rect l="l" t="t" r="r" b="b"/>
            <a:pathLst>
              <a:path w="1405923" h="255622">
                <a:moveTo>
                  <a:pt x="0" y="0"/>
                </a:moveTo>
                <a:lnTo>
                  <a:pt x="1405923" y="0"/>
                </a:lnTo>
                <a:lnTo>
                  <a:pt x="1405923" y="255622"/>
                </a:lnTo>
                <a:lnTo>
                  <a:pt x="0" y="25562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2" name="Freeform 12"/>
          <p:cNvSpPr/>
          <p:nvPr/>
        </p:nvSpPr>
        <p:spPr>
          <a:xfrm rot="-5400000">
            <a:off x="5372498" y="8797686"/>
            <a:ext cx="1405923" cy="255622"/>
          </a:xfrm>
          <a:custGeom>
            <a:avLst/>
            <a:gdLst/>
            <a:ahLst/>
            <a:cxnLst/>
            <a:rect l="l" t="t" r="r" b="b"/>
            <a:pathLst>
              <a:path w="1405923" h="255622">
                <a:moveTo>
                  <a:pt x="0" y="0"/>
                </a:moveTo>
                <a:lnTo>
                  <a:pt x="1405923" y="0"/>
                </a:lnTo>
                <a:lnTo>
                  <a:pt x="1405923" y="255622"/>
                </a:lnTo>
                <a:lnTo>
                  <a:pt x="0" y="25562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3" name="TextBox 13"/>
          <p:cNvSpPr txBox="1"/>
          <p:nvPr/>
        </p:nvSpPr>
        <p:spPr>
          <a:xfrm>
            <a:off x="6324600" y="1731172"/>
            <a:ext cx="6818709" cy="470278"/>
          </a:xfrm>
          <a:prstGeom prst="rect">
            <a:avLst/>
          </a:prstGeom>
        </p:spPr>
        <p:txBody>
          <a:bodyPr lIns="0" tIns="0" rIns="0" bIns="0" rtlCol="0" anchor="t">
            <a:spAutoFit/>
          </a:bodyPr>
          <a:lstStyle/>
          <a:p>
            <a:pPr algn="ctr">
              <a:lnSpc>
                <a:spcPts val="3477"/>
              </a:lnSpc>
              <a:spcBef>
                <a:spcPct val="0"/>
              </a:spcBef>
            </a:pPr>
            <a:r>
              <a:rPr lang="en-US" sz="2483" err="1">
                <a:solidFill>
                  <a:srgbClr val="000000"/>
                </a:solidFill>
                <a:latin typeface="Times New Roman"/>
                <a:ea typeface="Times New Roman"/>
                <a:cs typeface="Times New Roman"/>
                <a:sym typeface="Times New Roman"/>
              </a:rPr>
              <a:t>Veritabanı</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tablolarının</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temelini</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oluşturan</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varlıklar</a:t>
            </a:r>
            <a:r>
              <a:rPr lang="en-US" sz="2483">
                <a:solidFill>
                  <a:srgbClr val="000000"/>
                </a:solidFill>
                <a:latin typeface="Times New Roman"/>
                <a:ea typeface="Times New Roman"/>
                <a:cs typeface="Times New Roman"/>
                <a:sym typeface="Times New Roman"/>
              </a:rPr>
              <a:t>.</a:t>
            </a:r>
          </a:p>
        </p:txBody>
      </p:sp>
      <p:sp>
        <p:nvSpPr>
          <p:cNvPr id="14" name="TextBox 14"/>
          <p:cNvSpPr txBox="1"/>
          <p:nvPr/>
        </p:nvSpPr>
        <p:spPr>
          <a:xfrm>
            <a:off x="7017816" y="2695894"/>
            <a:ext cx="2488930" cy="426720"/>
          </a:xfrm>
          <a:prstGeom prst="rect">
            <a:avLst/>
          </a:prstGeom>
        </p:spPr>
        <p:txBody>
          <a:bodyPr wrap="square" lIns="0" tIns="0" rIns="0" bIns="0" rtlCol="0" anchor="t">
            <a:spAutoFit/>
          </a:bodyPr>
          <a:lstStyle/>
          <a:p>
            <a:pPr algn="ctr">
              <a:lnSpc>
                <a:spcPts val="3477"/>
              </a:lnSpc>
              <a:spcBef>
                <a:spcPct val="0"/>
              </a:spcBef>
            </a:pPr>
            <a:r>
              <a:rPr lang="en-US" sz="2483" b="1" err="1">
                <a:solidFill>
                  <a:srgbClr val="000000"/>
                </a:solidFill>
                <a:latin typeface="Times New Roman Bold"/>
                <a:ea typeface="Times New Roman Bold"/>
                <a:cs typeface="Times New Roman Bold"/>
                <a:sym typeface="Times New Roman Bold"/>
              </a:rPr>
              <a:t>DataAccessLayer</a:t>
            </a:r>
            <a:endParaRPr lang="en-US" sz="2483" b="1">
              <a:solidFill>
                <a:srgbClr val="000000"/>
              </a:solidFill>
              <a:latin typeface="Times New Roman Bold"/>
              <a:ea typeface="Times New Roman Bold"/>
              <a:cs typeface="Times New Roman Bold"/>
              <a:sym typeface="Times New Roman Bold"/>
            </a:endParaRPr>
          </a:p>
        </p:txBody>
      </p:sp>
      <p:sp>
        <p:nvSpPr>
          <p:cNvPr id="15" name="TextBox 15"/>
          <p:cNvSpPr txBox="1"/>
          <p:nvPr/>
        </p:nvSpPr>
        <p:spPr>
          <a:xfrm>
            <a:off x="7017816" y="3159440"/>
            <a:ext cx="7820659" cy="411266"/>
          </a:xfrm>
          <a:prstGeom prst="rect">
            <a:avLst/>
          </a:prstGeom>
        </p:spPr>
        <p:txBody>
          <a:bodyPr wrap="square" lIns="0" tIns="0" rIns="0" bIns="0" rtlCol="0" anchor="t">
            <a:spAutoFit/>
          </a:bodyPr>
          <a:lstStyle/>
          <a:p>
            <a:pPr algn="ctr">
              <a:lnSpc>
                <a:spcPts val="3477"/>
              </a:lnSpc>
              <a:spcBef>
                <a:spcPct val="0"/>
              </a:spcBef>
            </a:pPr>
            <a:r>
              <a:rPr lang="en-US" sz="2483">
                <a:solidFill>
                  <a:srgbClr val="000000"/>
                </a:solidFill>
                <a:latin typeface="Times New Roman"/>
                <a:ea typeface="Times New Roman"/>
                <a:cs typeface="Times New Roman"/>
                <a:sym typeface="Times New Roman"/>
              </a:rPr>
              <a:t>EF Core </a:t>
            </a:r>
            <a:r>
              <a:rPr lang="en-US" sz="2483" err="1">
                <a:solidFill>
                  <a:srgbClr val="000000"/>
                </a:solidFill>
                <a:latin typeface="Times New Roman"/>
                <a:ea typeface="Times New Roman"/>
                <a:cs typeface="Times New Roman"/>
                <a:sym typeface="Times New Roman"/>
              </a:rPr>
              <a:t>ve</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GenericRepository</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ile</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esnek</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veri</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erişim</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katmanı</a:t>
            </a:r>
            <a:r>
              <a:rPr lang="en-US" sz="2483">
                <a:solidFill>
                  <a:srgbClr val="000000"/>
                </a:solidFill>
                <a:latin typeface="Times New Roman"/>
                <a:ea typeface="Times New Roman"/>
                <a:cs typeface="Times New Roman"/>
                <a:sym typeface="Times New Roman"/>
              </a:rPr>
              <a:t>.</a:t>
            </a:r>
          </a:p>
        </p:txBody>
      </p:sp>
      <p:sp>
        <p:nvSpPr>
          <p:cNvPr id="16" name="TextBox 16"/>
          <p:cNvSpPr txBox="1"/>
          <p:nvPr/>
        </p:nvSpPr>
        <p:spPr>
          <a:xfrm>
            <a:off x="7563368" y="5368672"/>
            <a:ext cx="1974574" cy="426720"/>
          </a:xfrm>
          <a:prstGeom prst="rect">
            <a:avLst/>
          </a:prstGeom>
        </p:spPr>
        <p:txBody>
          <a:bodyPr wrap="square" lIns="0" tIns="0" rIns="0" bIns="0" rtlCol="0" anchor="t">
            <a:spAutoFit/>
          </a:bodyPr>
          <a:lstStyle/>
          <a:p>
            <a:pPr algn="ctr">
              <a:lnSpc>
                <a:spcPts val="3477"/>
              </a:lnSpc>
              <a:spcBef>
                <a:spcPct val="0"/>
              </a:spcBef>
            </a:pPr>
            <a:r>
              <a:rPr lang="en-US" sz="2483" b="1" err="1">
                <a:solidFill>
                  <a:srgbClr val="000000"/>
                </a:solidFill>
                <a:latin typeface="Times New Roman Bold"/>
                <a:ea typeface="Times New Roman Bold"/>
                <a:cs typeface="Times New Roman Bold"/>
                <a:sym typeface="Times New Roman Bold"/>
              </a:rPr>
              <a:t>BusinessLayer</a:t>
            </a:r>
            <a:endParaRPr lang="en-US" sz="2483" b="1">
              <a:solidFill>
                <a:srgbClr val="000000"/>
              </a:solidFill>
              <a:latin typeface="Times New Roman Bold"/>
              <a:ea typeface="Times New Roman Bold"/>
              <a:cs typeface="Times New Roman Bold"/>
              <a:sym typeface="Times New Roman Bold"/>
            </a:endParaRPr>
          </a:p>
        </p:txBody>
      </p:sp>
      <p:sp>
        <p:nvSpPr>
          <p:cNvPr id="17" name="TextBox 17"/>
          <p:cNvSpPr txBox="1"/>
          <p:nvPr/>
        </p:nvSpPr>
        <p:spPr>
          <a:xfrm>
            <a:off x="7612260" y="5792514"/>
            <a:ext cx="9433599" cy="908457"/>
          </a:xfrm>
          <a:prstGeom prst="rect">
            <a:avLst/>
          </a:prstGeom>
        </p:spPr>
        <p:txBody>
          <a:bodyPr lIns="0" tIns="0" rIns="0" bIns="0" rtlCol="0" anchor="t">
            <a:spAutoFit/>
          </a:bodyPr>
          <a:lstStyle/>
          <a:p>
            <a:pPr algn="just">
              <a:lnSpc>
                <a:spcPts val="3477"/>
              </a:lnSpc>
              <a:spcBef>
                <a:spcPct val="0"/>
              </a:spcBef>
            </a:pPr>
            <a:r>
              <a:rPr lang="en-US" sz="2483">
                <a:solidFill>
                  <a:srgbClr val="000000"/>
                </a:solidFill>
                <a:latin typeface="Times New Roman"/>
                <a:ea typeface="Times New Roman"/>
                <a:cs typeface="Times New Roman"/>
                <a:sym typeface="Times New Roman"/>
              </a:rPr>
              <a:t>Uygulamanın kalbi, iş mantığı ve servis operasyonları (AutoMapper + FluentValidation destekli).</a:t>
            </a:r>
          </a:p>
        </p:txBody>
      </p:sp>
      <p:sp>
        <p:nvSpPr>
          <p:cNvPr id="18" name="TextBox 18"/>
          <p:cNvSpPr txBox="1"/>
          <p:nvPr/>
        </p:nvSpPr>
        <p:spPr>
          <a:xfrm>
            <a:off x="7618452" y="4181870"/>
            <a:ext cx="1531740" cy="426720"/>
          </a:xfrm>
          <a:prstGeom prst="rect">
            <a:avLst/>
          </a:prstGeom>
        </p:spPr>
        <p:txBody>
          <a:bodyPr wrap="square" lIns="0" tIns="0" rIns="0" bIns="0" rtlCol="0" anchor="t">
            <a:spAutoFit/>
          </a:bodyPr>
          <a:lstStyle/>
          <a:p>
            <a:pPr algn="ctr">
              <a:lnSpc>
                <a:spcPts val="3477"/>
              </a:lnSpc>
              <a:spcBef>
                <a:spcPct val="0"/>
              </a:spcBef>
            </a:pPr>
            <a:r>
              <a:rPr lang="en-US" sz="2483" b="1" err="1">
                <a:solidFill>
                  <a:srgbClr val="000000"/>
                </a:solidFill>
                <a:latin typeface="Times New Roman Bold"/>
                <a:ea typeface="Times New Roman Bold"/>
                <a:cs typeface="Times New Roman Bold"/>
                <a:sym typeface="Times New Roman Bold"/>
              </a:rPr>
              <a:t>CoreLayer</a:t>
            </a:r>
            <a:endParaRPr lang="en-US" sz="2483" b="1">
              <a:solidFill>
                <a:srgbClr val="000000"/>
              </a:solidFill>
              <a:latin typeface="Times New Roman Bold"/>
              <a:ea typeface="Times New Roman Bold"/>
              <a:cs typeface="Times New Roman Bold"/>
              <a:sym typeface="Times New Roman Bold"/>
            </a:endParaRPr>
          </a:p>
        </p:txBody>
      </p:sp>
      <p:sp>
        <p:nvSpPr>
          <p:cNvPr id="19" name="TextBox 19"/>
          <p:cNvSpPr txBox="1"/>
          <p:nvPr/>
        </p:nvSpPr>
        <p:spPr>
          <a:xfrm>
            <a:off x="7535659" y="4585494"/>
            <a:ext cx="8503560" cy="411266"/>
          </a:xfrm>
          <a:prstGeom prst="rect">
            <a:avLst/>
          </a:prstGeom>
        </p:spPr>
        <p:txBody>
          <a:bodyPr wrap="square" lIns="0" tIns="0" rIns="0" bIns="0" rtlCol="0" anchor="t">
            <a:spAutoFit/>
          </a:bodyPr>
          <a:lstStyle/>
          <a:p>
            <a:pPr algn="ctr">
              <a:lnSpc>
                <a:spcPts val="3477"/>
              </a:lnSpc>
              <a:spcBef>
                <a:spcPct val="0"/>
              </a:spcBef>
            </a:pPr>
            <a:r>
              <a:rPr lang="en-US" sz="2483" err="1">
                <a:solidFill>
                  <a:srgbClr val="000000"/>
                </a:solidFill>
                <a:latin typeface="Times New Roman"/>
                <a:ea typeface="Times New Roman"/>
                <a:cs typeface="Times New Roman"/>
                <a:sym typeface="Times New Roman"/>
              </a:rPr>
              <a:t>CacheAspect</a:t>
            </a:r>
            <a:r>
              <a:rPr lang="en-US" sz="2483">
                <a:solidFill>
                  <a:srgbClr val="000000"/>
                </a:solidFill>
                <a:latin typeface="Times New Roman"/>
                <a:ea typeface="Times New Roman"/>
                <a:cs typeface="Times New Roman"/>
                <a:sym typeface="Times New Roman"/>
              </a:rPr>
              <a:t>, Logging </a:t>
            </a:r>
            <a:r>
              <a:rPr lang="en-US" sz="2483" err="1">
                <a:solidFill>
                  <a:srgbClr val="000000"/>
                </a:solidFill>
                <a:latin typeface="Times New Roman"/>
                <a:ea typeface="Times New Roman"/>
                <a:cs typeface="Times New Roman"/>
                <a:sym typeface="Times New Roman"/>
              </a:rPr>
              <a:t>ve</a:t>
            </a:r>
            <a:r>
              <a:rPr lang="en-US" sz="2483">
                <a:solidFill>
                  <a:srgbClr val="000000"/>
                </a:solidFill>
                <a:latin typeface="Times New Roman"/>
                <a:ea typeface="Times New Roman"/>
                <a:cs typeface="Times New Roman"/>
                <a:sym typeface="Times New Roman"/>
              </a:rPr>
              <a:t> AOP </a:t>
            </a:r>
            <a:r>
              <a:rPr lang="en-US" sz="2483" err="1">
                <a:solidFill>
                  <a:srgbClr val="000000"/>
                </a:solidFill>
                <a:latin typeface="Times New Roman"/>
                <a:ea typeface="Times New Roman"/>
                <a:cs typeface="Times New Roman"/>
                <a:sym typeface="Times New Roman"/>
              </a:rPr>
              <a:t>gibi</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ortak</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ve</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çapraz</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kesen</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yapılar</a:t>
            </a:r>
            <a:r>
              <a:rPr lang="en-US" sz="2483">
                <a:solidFill>
                  <a:srgbClr val="000000"/>
                </a:solidFill>
                <a:latin typeface="Times New Roman"/>
                <a:ea typeface="Times New Roman"/>
                <a:cs typeface="Times New Roman"/>
                <a:sym typeface="Times New Roman"/>
              </a:rPr>
              <a:t>.</a:t>
            </a:r>
          </a:p>
        </p:txBody>
      </p:sp>
      <p:sp>
        <p:nvSpPr>
          <p:cNvPr id="20" name="TextBox 20"/>
          <p:cNvSpPr txBox="1"/>
          <p:nvPr/>
        </p:nvSpPr>
        <p:spPr>
          <a:xfrm>
            <a:off x="7023831" y="7065542"/>
            <a:ext cx="2918077" cy="426720"/>
          </a:xfrm>
          <a:prstGeom prst="rect">
            <a:avLst/>
          </a:prstGeom>
        </p:spPr>
        <p:txBody>
          <a:bodyPr wrap="square" lIns="0" tIns="0" rIns="0" bIns="0" rtlCol="0" anchor="t">
            <a:spAutoFit/>
          </a:bodyPr>
          <a:lstStyle/>
          <a:p>
            <a:pPr algn="ctr">
              <a:lnSpc>
                <a:spcPts val="3477"/>
              </a:lnSpc>
              <a:spcBef>
                <a:spcPct val="0"/>
              </a:spcBef>
            </a:pPr>
            <a:r>
              <a:rPr lang="en-US" sz="2483" b="1" err="1">
                <a:solidFill>
                  <a:srgbClr val="000000"/>
                </a:solidFill>
                <a:latin typeface="Times New Roman Bold"/>
                <a:ea typeface="Times New Roman Bold"/>
                <a:cs typeface="Times New Roman Bold"/>
                <a:sym typeface="Times New Roman Bold"/>
              </a:rPr>
              <a:t>InfrastructureLayer</a:t>
            </a:r>
            <a:endParaRPr lang="en-US" sz="2483" b="1">
              <a:solidFill>
                <a:srgbClr val="000000"/>
              </a:solidFill>
              <a:latin typeface="Times New Roman Bold"/>
              <a:ea typeface="Times New Roman Bold"/>
              <a:cs typeface="Times New Roman Bold"/>
              <a:sym typeface="Times New Roman Bold"/>
            </a:endParaRPr>
          </a:p>
        </p:txBody>
      </p:sp>
      <p:sp>
        <p:nvSpPr>
          <p:cNvPr id="21" name="TextBox 21"/>
          <p:cNvSpPr txBox="1"/>
          <p:nvPr/>
        </p:nvSpPr>
        <p:spPr>
          <a:xfrm>
            <a:off x="6885339" y="7519737"/>
            <a:ext cx="6928842" cy="411266"/>
          </a:xfrm>
          <a:prstGeom prst="rect">
            <a:avLst/>
          </a:prstGeom>
        </p:spPr>
        <p:txBody>
          <a:bodyPr lIns="0" tIns="0" rIns="0" bIns="0" rtlCol="0" anchor="t">
            <a:spAutoFit/>
          </a:bodyPr>
          <a:lstStyle/>
          <a:p>
            <a:pPr algn="ctr">
              <a:lnSpc>
                <a:spcPts val="3477"/>
              </a:lnSpc>
              <a:spcBef>
                <a:spcPct val="0"/>
              </a:spcBef>
            </a:pPr>
            <a:r>
              <a:rPr lang="en-US" sz="2483">
                <a:solidFill>
                  <a:srgbClr val="000000"/>
                </a:solidFill>
                <a:latin typeface="Times New Roman"/>
                <a:ea typeface="Times New Roman"/>
                <a:cs typeface="Times New Roman"/>
                <a:sym typeface="Times New Roman"/>
              </a:rPr>
              <a:t>JWT Token </a:t>
            </a:r>
            <a:r>
              <a:rPr lang="en-US" sz="2483" err="1">
                <a:solidFill>
                  <a:srgbClr val="000000"/>
                </a:solidFill>
                <a:latin typeface="Times New Roman"/>
                <a:ea typeface="Times New Roman"/>
                <a:cs typeface="Times New Roman"/>
                <a:sym typeface="Times New Roman"/>
              </a:rPr>
              <a:t>yönetimi</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ve</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kimlik</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doğrulama</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altyapısı</a:t>
            </a:r>
            <a:r>
              <a:rPr lang="en-US" sz="2483">
                <a:solidFill>
                  <a:srgbClr val="000000"/>
                </a:solidFill>
                <a:latin typeface="Times New Roman"/>
                <a:ea typeface="Times New Roman"/>
                <a:cs typeface="Times New Roman"/>
                <a:sym typeface="Times New Roman"/>
              </a:rPr>
              <a:t>.</a:t>
            </a:r>
          </a:p>
        </p:txBody>
      </p:sp>
      <p:sp>
        <p:nvSpPr>
          <p:cNvPr id="22" name="TextBox 22"/>
          <p:cNvSpPr txBox="1"/>
          <p:nvPr/>
        </p:nvSpPr>
        <p:spPr>
          <a:xfrm>
            <a:off x="6482732" y="8451136"/>
            <a:ext cx="1365868" cy="426720"/>
          </a:xfrm>
          <a:prstGeom prst="rect">
            <a:avLst/>
          </a:prstGeom>
        </p:spPr>
        <p:txBody>
          <a:bodyPr wrap="square" lIns="0" tIns="0" rIns="0" bIns="0" rtlCol="0" anchor="t">
            <a:spAutoFit/>
          </a:bodyPr>
          <a:lstStyle/>
          <a:p>
            <a:pPr algn="ctr">
              <a:lnSpc>
                <a:spcPts val="3477"/>
              </a:lnSpc>
              <a:spcBef>
                <a:spcPct val="0"/>
              </a:spcBef>
            </a:pPr>
            <a:r>
              <a:rPr lang="en-US" sz="2483" b="1" err="1">
                <a:solidFill>
                  <a:srgbClr val="000000"/>
                </a:solidFill>
                <a:latin typeface="Times New Roman Bold"/>
                <a:ea typeface="Times New Roman Bold"/>
                <a:cs typeface="Times New Roman Bold"/>
                <a:sym typeface="Times New Roman Bold"/>
              </a:rPr>
              <a:t>WebAPI</a:t>
            </a:r>
            <a:endParaRPr lang="en-US" sz="2483" b="1">
              <a:solidFill>
                <a:srgbClr val="000000"/>
              </a:solidFill>
              <a:latin typeface="Times New Roman Bold"/>
              <a:ea typeface="Times New Roman Bold"/>
              <a:cs typeface="Times New Roman Bold"/>
              <a:sym typeface="Times New Roman Bold"/>
            </a:endParaRPr>
          </a:p>
        </p:txBody>
      </p:sp>
      <p:sp>
        <p:nvSpPr>
          <p:cNvPr id="23" name="TextBox 23"/>
          <p:cNvSpPr txBox="1"/>
          <p:nvPr/>
        </p:nvSpPr>
        <p:spPr>
          <a:xfrm>
            <a:off x="6324600" y="8900823"/>
            <a:ext cx="10321975" cy="411266"/>
          </a:xfrm>
          <a:prstGeom prst="rect">
            <a:avLst/>
          </a:prstGeom>
        </p:spPr>
        <p:txBody>
          <a:bodyPr lIns="0" tIns="0" rIns="0" bIns="0" rtlCol="0" anchor="t">
            <a:spAutoFit/>
          </a:bodyPr>
          <a:lstStyle/>
          <a:p>
            <a:pPr algn="ctr">
              <a:lnSpc>
                <a:spcPts val="3477"/>
              </a:lnSpc>
              <a:spcBef>
                <a:spcPct val="0"/>
              </a:spcBef>
            </a:pPr>
            <a:r>
              <a:rPr lang="en-US" sz="2483">
                <a:solidFill>
                  <a:srgbClr val="000000"/>
                </a:solidFill>
                <a:latin typeface="Times New Roman"/>
                <a:ea typeface="Times New Roman"/>
                <a:cs typeface="Times New Roman"/>
                <a:sym typeface="Times New Roman"/>
              </a:rPr>
              <a:t>H</a:t>
            </a:r>
            <a:r>
              <a:rPr lang="tr-TR" sz="2483">
                <a:solidFill>
                  <a:srgbClr val="000000"/>
                </a:solidFill>
                <a:latin typeface="Times New Roman"/>
                <a:ea typeface="Times New Roman"/>
                <a:cs typeface="Times New Roman"/>
                <a:sym typeface="Times New Roman"/>
              </a:rPr>
              <a:t>T</a:t>
            </a:r>
            <a:r>
              <a:rPr lang="en-US" sz="2483">
                <a:solidFill>
                  <a:srgbClr val="000000"/>
                </a:solidFill>
                <a:latin typeface="Times New Roman"/>
                <a:ea typeface="Times New Roman"/>
                <a:cs typeface="Times New Roman"/>
                <a:sym typeface="Times New Roman"/>
              </a:rPr>
              <a:t>TP </a:t>
            </a:r>
            <a:r>
              <a:rPr lang="en-US" sz="2483" err="1">
                <a:solidFill>
                  <a:srgbClr val="000000"/>
                </a:solidFill>
                <a:latin typeface="Times New Roman"/>
                <a:ea typeface="Times New Roman"/>
                <a:cs typeface="Times New Roman"/>
                <a:sym typeface="Times New Roman"/>
              </a:rPr>
              <a:t>isteklerini</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yöneten</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ve</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kullanıcı</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arayüzü</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ile</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iletişim</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kuran</a:t>
            </a:r>
            <a:r>
              <a:rPr lang="en-US" sz="2483">
                <a:solidFill>
                  <a:srgbClr val="000000"/>
                </a:solidFill>
                <a:latin typeface="Times New Roman"/>
                <a:ea typeface="Times New Roman"/>
                <a:cs typeface="Times New Roman"/>
                <a:sym typeface="Times New Roman"/>
              </a:rPr>
              <a:t> </a:t>
            </a:r>
            <a:r>
              <a:rPr lang="en-US" sz="2483" err="1">
                <a:solidFill>
                  <a:srgbClr val="000000"/>
                </a:solidFill>
                <a:latin typeface="Times New Roman"/>
                <a:ea typeface="Times New Roman"/>
                <a:cs typeface="Times New Roman"/>
                <a:sym typeface="Times New Roman"/>
              </a:rPr>
              <a:t>controller'lar</a:t>
            </a:r>
            <a:r>
              <a:rPr lang="en-US" sz="2483">
                <a:solidFill>
                  <a:srgbClr val="000000"/>
                </a:solidFill>
                <a:latin typeface="Times New Roman"/>
                <a:ea typeface="Times New Roman"/>
                <a:cs typeface="Times New Roman"/>
                <a:sym typeface="Times New Roman"/>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5619441"/>
            <a:ext cx="5885088" cy="4667559"/>
            <a:chOff x="0" y="0"/>
            <a:chExt cx="9448800" cy="7493997"/>
          </a:xfrm>
        </p:grpSpPr>
        <p:sp>
          <p:nvSpPr>
            <p:cNvPr id="3" name="Freeform 3"/>
            <p:cNvSpPr/>
            <p:nvPr/>
          </p:nvSpPr>
          <p:spPr>
            <a:xfrm>
              <a:off x="0" y="0"/>
              <a:ext cx="9448800" cy="7494016"/>
            </a:xfrm>
            <a:custGeom>
              <a:avLst/>
              <a:gdLst/>
              <a:ahLst/>
              <a:cxnLst/>
              <a:rect l="l" t="t" r="r" b="b"/>
              <a:pathLst>
                <a:path w="9448800" h="7494016">
                  <a:moveTo>
                    <a:pt x="0" y="0"/>
                  </a:moveTo>
                  <a:lnTo>
                    <a:pt x="9448800" y="0"/>
                  </a:lnTo>
                  <a:lnTo>
                    <a:pt x="9448800" y="7494016"/>
                  </a:lnTo>
                  <a:lnTo>
                    <a:pt x="0" y="7494016"/>
                  </a:lnTo>
                  <a:close/>
                </a:path>
              </a:pathLst>
            </a:custGeom>
            <a:blipFill>
              <a:blip r:embed="rId3"/>
              <a:stretch>
                <a:fillRect t="-13042" b="-13042"/>
              </a:stretch>
            </a:blipFill>
          </p:spPr>
          <p:txBody>
            <a:bodyPr/>
            <a:lstStyle/>
            <a:p>
              <a:endParaRPr lang="en-US"/>
            </a:p>
          </p:txBody>
        </p:sp>
      </p:grpSp>
      <p:sp>
        <p:nvSpPr>
          <p:cNvPr id="4" name="Freeform 4"/>
          <p:cNvSpPr/>
          <p:nvPr/>
        </p:nvSpPr>
        <p:spPr>
          <a:xfrm>
            <a:off x="0" y="7516647"/>
            <a:ext cx="5095968" cy="2770353"/>
          </a:xfrm>
          <a:custGeom>
            <a:avLst/>
            <a:gdLst/>
            <a:ahLst/>
            <a:cxnLst/>
            <a:rect l="l" t="t" r="r" b="b"/>
            <a:pathLst>
              <a:path w="5095968" h="2770353">
                <a:moveTo>
                  <a:pt x="0" y="0"/>
                </a:moveTo>
                <a:lnTo>
                  <a:pt x="5095968" y="0"/>
                </a:lnTo>
                <a:lnTo>
                  <a:pt x="5095968" y="2770353"/>
                </a:lnTo>
                <a:lnTo>
                  <a:pt x="0" y="2770353"/>
                </a:lnTo>
                <a:lnTo>
                  <a:pt x="0" y="0"/>
                </a:lnTo>
                <a:close/>
              </a:path>
            </a:pathLst>
          </a:custGeom>
          <a:blipFill>
            <a:blip r:embed="rId4">
              <a:extLst>
                <a:ext uri="{96DAC541-7B7A-43D3-8B79-37D633B846F1}">
                  <asvg:svgBlip xmlns:asvg="http://schemas.microsoft.com/office/drawing/2016/SVG/main" r:embed="rId5"/>
                </a:ext>
              </a:extLst>
            </a:blip>
            <a:stretch>
              <a:fillRect t="-350" b="-350"/>
            </a:stretch>
          </a:blipFill>
        </p:spPr>
        <p:txBody>
          <a:bodyPr/>
          <a:lstStyle/>
          <a:p>
            <a:endParaRPr lang="en-US"/>
          </a:p>
        </p:txBody>
      </p:sp>
      <p:sp>
        <p:nvSpPr>
          <p:cNvPr id="5" name="AutoShape 5"/>
          <p:cNvSpPr/>
          <p:nvPr/>
        </p:nvSpPr>
        <p:spPr>
          <a:xfrm flipH="1">
            <a:off x="8755871" y="2281042"/>
            <a:ext cx="19050" cy="7954795"/>
          </a:xfrm>
          <a:prstGeom prst="line">
            <a:avLst/>
          </a:prstGeom>
          <a:ln w="38100" cap="flat">
            <a:solidFill>
              <a:srgbClr val="000000"/>
            </a:solidFill>
            <a:prstDash val="solid"/>
            <a:headEnd type="none" w="sm" len="sm"/>
            <a:tailEnd type="none" w="sm" len="sm"/>
          </a:ln>
        </p:spPr>
        <p:txBody>
          <a:bodyPr/>
          <a:lstStyle/>
          <a:p>
            <a:endParaRPr lang="en-US"/>
          </a:p>
        </p:txBody>
      </p:sp>
      <p:sp>
        <p:nvSpPr>
          <p:cNvPr id="6" name="Freeform 6"/>
          <p:cNvSpPr/>
          <p:nvPr/>
        </p:nvSpPr>
        <p:spPr>
          <a:xfrm>
            <a:off x="10063508" y="2416004"/>
            <a:ext cx="6903744" cy="7724469"/>
          </a:xfrm>
          <a:custGeom>
            <a:avLst/>
            <a:gdLst/>
            <a:ahLst/>
            <a:cxnLst/>
            <a:rect l="l" t="t" r="r" b="b"/>
            <a:pathLst>
              <a:path w="6903744" h="7724469">
                <a:moveTo>
                  <a:pt x="0" y="0"/>
                </a:moveTo>
                <a:lnTo>
                  <a:pt x="6903744" y="0"/>
                </a:lnTo>
                <a:lnTo>
                  <a:pt x="6903744" y="7724468"/>
                </a:lnTo>
                <a:lnTo>
                  <a:pt x="0" y="7724468"/>
                </a:lnTo>
                <a:lnTo>
                  <a:pt x="0" y="0"/>
                </a:lnTo>
                <a:close/>
              </a:path>
            </a:pathLst>
          </a:custGeom>
          <a:blipFill>
            <a:blip r:embed="rId6"/>
            <a:stretch>
              <a:fillRect/>
            </a:stretch>
          </a:blipFill>
        </p:spPr>
        <p:txBody>
          <a:bodyPr/>
          <a:lstStyle/>
          <a:p>
            <a:endParaRPr lang="en-US"/>
          </a:p>
        </p:txBody>
      </p:sp>
      <p:sp>
        <p:nvSpPr>
          <p:cNvPr id="7" name="TextBox 7"/>
          <p:cNvSpPr txBox="1"/>
          <p:nvPr/>
        </p:nvSpPr>
        <p:spPr>
          <a:xfrm>
            <a:off x="5018033" y="669256"/>
            <a:ext cx="7513778" cy="966538"/>
          </a:xfrm>
          <a:prstGeom prst="rect">
            <a:avLst/>
          </a:prstGeom>
        </p:spPr>
        <p:txBody>
          <a:bodyPr lIns="0" tIns="0" rIns="0" bIns="0" rtlCol="0" anchor="t">
            <a:spAutoFit/>
          </a:bodyPr>
          <a:lstStyle/>
          <a:p>
            <a:pPr algn="l">
              <a:lnSpc>
                <a:spcPts val="6639"/>
              </a:lnSpc>
            </a:pPr>
            <a:r>
              <a:rPr lang="en-US" sz="7999" b="1" spc="-319">
                <a:solidFill>
                  <a:srgbClr val="D322FF"/>
                </a:solidFill>
                <a:latin typeface="Arimo Bold"/>
                <a:ea typeface="Arimo Bold"/>
                <a:cs typeface="Arimo Bold"/>
                <a:sym typeface="Arimo Bold"/>
              </a:rPr>
              <a:t>Veritabanı Yapısı</a:t>
            </a:r>
          </a:p>
        </p:txBody>
      </p:sp>
      <p:sp>
        <p:nvSpPr>
          <p:cNvPr id="8" name="TextBox 8"/>
          <p:cNvSpPr txBox="1"/>
          <p:nvPr/>
        </p:nvSpPr>
        <p:spPr>
          <a:xfrm>
            <a:off x="178906" y="2497789"/>
            <a:ext cx="8419318" cy="2222892"/>
          </a:xfrm>
          <a:prstGeom prst="rect">
            <a:avLst/>
          </a:prstGeom>
        </p:spPr>
        <p:txBody>
          <a:bodyPr lIns="0" tIns="0" rIns="0" bIns="0" rtlCol="0" anchor="t">
            <a:spAutoFit/>
          </a:bodyPr>
          <a:lstStyle/>
          <a:p>
            <a:pPr algn="l">
              <a:lnSpc>
                <a:spcPts val="3477"/>
              </a:lnSpc>
              <a:spcBef>
                <a:spcPct val="0"/>
              </a:spcBef>
            </a:pPr>
            <a:r>
              <a:rPr lang="en-US" sz="2483" b="1">
                <a:solidFill>
                  <a:srgbClr val="101010"/>
                </a:solidFill>
                <a:latin typeface="Times New Roman Bold"/>
                <a:ea typeface="Times New Roman Bold"/>
                <a:cs typeface="Times New Roman Bold"/>
                <a:sym typeface="Times New Roman Bold"/>
              </a:rPr>
              <a:t>Kullanıcı Türleri: </a:t>
            </a:r>
            <a:r>
              <a:rPr lang="en-US" sz="2483">
                <a:solidFill>
                  <a:srgbClr val="101010"/>
                </a:solidFill>
                <a:latin typeface="Times New Roman"/>
                <a:ea typeface="Times New Roman"/>
                <a:cs typeface="Times New Roman"/>
                <a:sym typeface="Times New Roman"/>
              </a:rPr>
              <a:t>Admin, Customers, Merchants</a:t>
            </a:r>
            <a:r>
              <a:rPr lang="en-US" sz="2483" b="1">
                <a:solidFill>
                  <a:srgbClr val="101010"/>
                </a:solidFill>
                <a:latin typeface="Times New Roman Bold"/>
                <a:ea typeface="Times New Roman Bold"/>
                <a:cs typeface="Times New Roman Bold"/>
                <a:sym typeface="Times New Roman Bold"/>
              </a:rPr>
              <a:t> </a:t>
            </a:r>
          </a:p>
          <a:p>
            <a:pPr algn="l">
              <a:lnSpc>
                <a:spcPts val="3477"/>
              </a:lnSpc>
              <a:spcBef>
                <a:spcPct val="0"/>
              </a:spcBef>
            </a:pPr>
            <a:endParaRPr lang="en-US" sz="2483" b="1">
              <a:solidFill>
                <a:srgbClr val="101010"/>
              </a:solidFill>
              <a:latin typeface="Times New Roman Bold"/>
              <a:ea typeface="Times New Roman Bold"/>
              <a:cs typeface="Times New Roman Bold"/>
              <a:sym typeface="Times New Roman Bold"/>
            </a:endParaRPr>
          </a:p>
          <a:p>
            <a:pPr algn="l">
              <a:lnSpc>
                <a:spcPts val="3477"/>
              </a:lnSpc>
              <a:spcBef>
                <a:spcPct val="0"/>
              </a:spcBef>
            </a:pPr>
            <a:r>
              <a:rPr lang="en-US" sz="2483" b="1">
                <a:solidFill>
                  <a:srgbClr val="101010"/>
                </a:solidFill>
                <a:latin typeface="Times New Roman Bold"/>
                <a:ea typeface="Times New Roman Bold"/>
                <a:cs typeface="Times New Roman Bold"/>
                <a:sym typeface="Times New Roman Bold"/>
              </a:rPr>
              <a:t>Ürün</a:t>
            </a:r>
            <a:r>
              <a:rPr lang="en-US" sz="2483">
                <a:solidFill>
                  <a:srgbClr val="101010"/>
                </a:solidFill>
                <a:latin typeface="Times New Roman"/>
                <a:ea typeface="Times New Roman"/>
                <a:cs typeface="Times New Roman"/>
                <a:sym typeface="Times New Roman"/>
              </a:rPr>
              <a:t> </a:t>
            </a:r>
            <a:r>
              <a:rPr lang="en-US" sz="2483" b="1">
                <a:solidFill>
                  <a:srgbClr val="101010"/>
                </a:solidFill>
                <a:latin typeface="Times New Roman Bold"/>
                <a:ea typeface="Times New Roman Bold"/>
                <a:cs typeface="Times New Roman Bold"/>
                <a:sym typeface="Times New Roman Bold"/>
              </a:rPr>
              <a:t>Yapısı:</a:t>
            </a:r>
            <a:r>
              <a:rPr lang="en-US" sz="2483">
                <a:solidFill>
                  <a:srgbClr val="101010"/>
                </a:solidFill>
                <a:latin typeface="Times New Roman"/>
                <a:ea typeface="Times New Roman"/>
                <a:cs typeface="Times New Roman"/>
                <a:sym typeface="Times New Roman"/>
              </a:rPr>
              <a:t> Products, ProductVariants, ProductImages </a:t>
            </a:r>
          </a:p>
          <a:p>
            <a:pPr algn="l">
              <a:lnSpc>
                <a:spcPts val="3477"/>
              </a:lnSpc>
              <a:spcBef>
                <a:spcPct val="0"/>
              </a:spcBef>
            </a:pPr>
            <a:endParaRPr lang="en-US" sz="2483">
              <a:solidFill>
                <a:srgbClr val="101010"/>
              </a:solidFill>
              <a:latin typeface="Times New Roman"/>
              <a:ea typeface="Times New Roman"/>
              <a:cs typeface="Times New Roman"/>
              <a:sym typeface="Times New Roman"/>
            </a:endParaRPr>
          </a:p>
          <a:p>
            <a:pPr algn="l">
              <a:lnSpc>
                <a:spcPts val="3477"/>
              </a:lnSpc>
              <a:spcBef>
                <a:spcPct val="0"/>
              </a:spcBef>
            </a:pPr>
            <a:r>
              <a:rPr lang="en-US" sz="2483" b="1">
                <a:solidFill>
                  <a:srgbClr val="101010"/>
                </a:solidFill>
                <a:latin typeface="Times New Roman Bold"/>
                <a:ea typeface="Times New Roman Bold"/>
                <a:cs typeface="Times New Roman Bold"/>
                <a:sym typeface="Times New Roman Bold"/>
              </a:rPr>
              <a:t>Sipariş Akışı: </a:t>
            </a:r>
            <a:r>
              <a:rPr lang="en-US" sz="2483">
                <a:solidFill>
                  <a:srgbClr val="101010"/>
                </a:solidFill>
                <a:latin typeface="Times New Roman"/>
                <a:ea typeface="Times New Roman"/>
                <a:cs typeface="Times New Roman"/>
                <a:sym typeface="Times New Roman"/>
              </a:rPr>
              <a:t>CartItems, Orders, OrderItems, MerchantOrders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0000749" y="5792367"/>
            <a:ext cx="8267719" cy="4494633"/>
          </a:xfrm>
          <a:custGeom>
            <a:avLst/>
            <a:gdLst/>
            <a:ahLst/>
            <a:cxnLst/>
            <a:rect l="l" t="t" r="r" b="b"/>
            <a:pathLst>
              <a:path w="8267719" h="4494633">
                <a:moveTo>
                  <a:pt x="8267719" y="0"/>
                </a:moveTo>
                <a:lnTo>
                  <a:pt x="0" y="0"/>
                </a:lnTo>
                <a:lnTo>
                  <a:pt x="0" y="4494633"/>
                </a:lnTo>
                <a:lnTo>
                  <a:pt x="8267719" y="4494633"/>
                </a:lnTo>
                <a:lnTo>
                  <a:pt x="8267719" y="0"/>
                </a:lnTo>
                <a:close/>
              </a:path>
            </a:pathLst>
          </a:custGeom>
          <a:blipFill>
            <a:blip r:embed="rId3">
              <a:extLst>
                <a:ext uri="{96DAC541-7B7A-43D3-8B79-37D633B846F1}">
                  <asvg:svgBlip xmlns:asvg="http://schemas.microsoft.com/office/drawing/2016/SVG/main" r:embed="rId4"/>
                </a:ext>
              </a:extLst>
            </a:blip>
            <a:stretch>
              <a:fillRect t="-273" b="-273"/>
            </a:stretch>
          </a:blipFill>
        </p:spPr>
        <p:txBody>
          <a:bodyPr/>
          <a:lstStyle/>
          <a:p>
            <a:endParaRPr lang="en-US"/>
          </a:p>
        </p:txBody>
      </p:sp>
      <p:sp>
        <p:nvSpPr>
          <p:cNvPr id="3" name="Freeform 3"/>
          <p:cNvSpPr/>
          <p:nvPr/>
        </p:nvSpPr>
        <p:spPr>
          <a:xfrm>
            <a:off x="1299988" y="3899806"/>
            <a:ext cx="1957825" cy="1833236"/>
          </a:xfrm>
          <a:custGeom>
            <a:avLst/>
            <a:gdLst/>
            <a:ahLst/>
            <a:cxnLst/>
            <a:rect l="l" t="t" r="r" b="b"/>
            <a:pathLst>
              <a:path w="1957825" h="1833236">
                <a:moveTo>
                  <a:pt x="0" y="0"/>
                </a:moveTo>
                <a:lnTo>
                  <a:pt x="1957825" y="0"/>
                </a:lnTo>
                <a:lnTo>
                  <a:pt x="1957825" y="1833237"/>
                </a:lnTo>
                <a:lnTo>
                  <a:pt x="0" y="18332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Freeform 4"/>
          <p:cNvSpPr/>
          <p:nvPr/>
        </p:nvSpPr>
        <p:spPr>
          <a:xfrm>
            <a:off x="4428458" y="4134276"/>
            <a:ext cx="2262047" cy="1364297"/>
          </a:xfrm>
          <a:custGeom>
            <a:avLst/>
            <a:gdLst/>
            <a:ahLst/>
            <a:cxnLst/>
            <a:rect l="l" t="t" r="r" b="b"/>
            <a:pathLst>
              <a:path w="2262047" h="1364297">
                <a:moveTo>
                  <a:pt x="0" y="0"/>
                </a:moveTo>
                <a:lnTo>
                  <a:pt x="2262046" y="0"/>
                </a:lnTo>
                <a:lnTo>
                  <a:pt x="2262046" y="1364297"/>
                </a:lnTo>
                <a:lnTo>
                  <a:pt x="0" y="136429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5" name="Freeform 5"/>
          <p:cNvSpPr/>
          <p:nvPr/>
        </p:nvSpPr>
        <p:spPr>
          <a:xfrm>
            <a:off x="7406880" y="4090184"/>
            <a:ext cx="2773233" cy="1452481"/>
          </a:xfrm>
          <a:custGeom>
            <a:avLst/>
            <a:gdLst/>
            <a:ahLst/>
            <a:cxnLst/>
            <a:rect l="l" t="t" r="r" b="b"/>
            <a:pathLst>
              <a:path w="2773233" h="1452481">
                <a:moveTo>
                  <a:pt x="0" y="0"/>
                </a:moveTo>
                <a:lnTo>
                  <a:pt x="2773233" y="0"/>
                </a:lnTo>
                <a:lnTo>
                  <a:pt x="2773233" y="1452481"/>
                </a:lnTo>
                <a:lnTo>
                  <a:pt x="0" y="1452481"/>
                </a:lnTo>
                <a:lnTo>
                  <a:pt x="0" y="0"/>
                </a:lnTo>
                <a:close/>
              </a:path>
            </a:pathLst>
          </a:custGeom>
          <a:blipFill>
            <a:blip r:embed="rId9"/>
            <a:stretch>
              <a:fillRect/>
            </a:stretch>
          </a:blipFill>
        </p:spPr>
        <p:txBody>
          <a:bodyPr/>
          <a:lstStyle/>
          <a:p>
            <a:endParaRPr lang="en-US"/>
          </a:p>
        </p:txBody>
      </p:sp>
      <p:sp>
        <p:nvSpPr>
          <p:cNvPr id="6" name="Freeform 6"/>
          <p:cNvSpPr/>
          <p:nvPr/>
        </p:nvSpPr>
        <p:spPr>
          <a:xfrm>
            <a:off x="11202134" y="3899806"/>
            <a:ext cx="2334373" cy="1802490"/>
          </a:xfrm>
          <a:custGeom>
            <a:avLst/>
            <a:gdLst/>
            <a:ahLst/>
            <a:cxnLst/>
            <a:rect l="l" t="t" r="r" b="b"/>
            <a:pathLst>
              <a:path w="2334373" h="1802490">
                <a:moveTo>
                  <a:pt x="0" y="0"/>
                </a:moveTo>
                <a:lnTo>
                  <a:pt x="2334373" y="0"/>
                </a:lnTo>
                <a:lnTo>
                  <a:pt x="2334373" y="1802491"/>
                </a:lnTo>
                <a:lnTo>
                  <a:pt x="0" y="1802491"/>
                </a:lnTo>
                <a:lnTo>
                  <a:pt x="0" y="0"/>
                </a:lnTo>
                <a:close/>
              </a:path>
            </a:pathLst>
          </a:custGeom>
          <a:blipFill>
            <a:blip r:embed="rId10"/>
            <a:stretch>
              <a:fillRect/>
            </a:stretch>
          </a:blipFill>
        </p:spPr>
        <p:txBody>
          <a:bodyPr/>
          <a:lstStyle/>
          <a:p>
            <a:endParaRPr lang="en-US"/>
          </a:p>
        </p:txBody>
      </p:sp>
      <p:sp>
        <p:nvSpPr>
          <p:cNvPr id="7" name="Freeform 7"/>
          <p:cNvSpPr/>
          <p:nvPr/>
        </p:nvSpPr>
        <p:spPr>
          <a:xfrm>
            <a:off x="14633879" y="3899806"/>
            <a:ext cx="1978131" cy="1833236"/>
          </a:xfrm>
          <a:custGeom>
            <a:avLst/>
            <a:gdLst/>
            <a:ahLst/>
            <a:cxnLst/>
            <a:rect l="l" t="t" r="r" b="b"/>
            <a:pathLst>
              <a:path w="1978131" h="1833236">
                <a:moveTo>
                  <a:pt x="0" y="0"/>
                </a:moveTo>
                <a:lnTo>
                  <a:pt x="1978131" y="0"/>
                </a:lnTo>
                <a:lnTo>
                  <a:pt x="1978131" y="1833237"/>
                </a:lnTo>
                <a:lnTo>
                  <a:pt x="0" y="1833237"/>
                </a:lnTo>
                <a:lnTo>
                  <a:pt x="0" y="0"/>
                </a:lnTo>
                <a:close/>
              </a:path>
            </a:pathLst>
          </a:custGeom>
          <a:blipFill>
            <a:blip r:embed="rId11"/>
            <a:stretch>
              <a:fillRect/>
            </a:stretch>
          </a:blipFill>
        </p:spPr>
        <p:txBody>
          <a:bodyPr/>
          <a:lstStyle/>
          <a:p>
            <a:endParaRPr lang="en-US"/>
          </a:p>
        </p:txBody>
      </p:sp>
      <p:sp>
        <p:nvSpPr>
          <p:cNvPr id="8" name="TextBox 8"/>
          <p:cNvSpPr txBox="1"/>
          <p:nvPr/>
        </p:nvSpPr>
        <p:spPr>
          <a:xfrm>
            <a:off x="13970251" y="5942328"/>
            <a:ext cx="3305388" cy="427590"/>
          </a:xfrm>
          <a:prstGeom prst="rect">
            <a:avLst/>
          </a:prstGeom>
        </p:spPr>
        <p:txBody>
          <a:bodyPr lIns="0" tIns="0" rIns="0" bIns="0" rtlCol="0" anchor="t">
            <a:spAutoFit/>
          </a:bodyPr>
          <a:lstStyle/>
          <a:p>
            <a:pPr algn="ctr">
              <a:lnSpc>
                <a:spcPts val="3477"/>
              </a:lnSpc>
            </a:pPr>
            <a:r>
              <a:rPr lang="en-US" sz="2483" b="1">
                <a:solidFill>
                  <a:srgbClr val="000000"/>
                </a:solidFill>
                <a:latin typeface="Arimo Bold"/>
                <a:ea typeface="Arimo Bold"/>
                <a:cs typeface="Arimo Bold"/>
                <a:sym typeface="Arimo Bold"/>
              </a:rPr>
              <a:t>Redux ToolKit</a:t>
            </a:r>
          </a:p>
        </p:txBody>
      </p:sp>
      <p:sp>
        <p:nvSpPr>
          <p:cNvPr id="9" name="TextBox 9"/>
          <p:cNvSpPr txBox="1"/>
          <p:nvPr/>
        </p:nvSpPr>
        <p:spPr>
          <a:xfrm>
            <a:off x="7586244" y="5942328"/>
            <a:ext cx="2414505" cy="427590"/>
          </a:xfrm>
          <a:prstGeom prst="rect">
            <a:avLst/>
          </a:prstGeom>
        </p:spPr>
        <p:txBody>
          <a:bodyPr lIns="0" tIns="0" rIns="0" bIns="0" rtlCol="0" anchor="t">
            <a:spAutoFit/>
          </a:bodyPr>
          <a:lstStyle/>
          <a:p>
            <a:pPr algn="ctr">
              <a:lnSpc>
                <a:spcPts val="3477"/>
              </a:lnSpc>
            </a:pPr>
            <a:r>
              <a:rPr lang="en-US" sz="2483" b="1">
                <a:solidFill>
                  <a:srgbClr val="000000"/>
                </a:solidFill>
                <a:latin typeface="Arimo Bold"/>
                <a:ea typeface="Arimo Bold"/>
                <a:cs typeface="Arimo Bold"/>
                <a:sym typeface="Arimo Bold"/>
              </a:rPr>
              <a:t>App Router</a:t>
            </a:r>
          </a:p>
        </p:txBody>
      </p:sp>
      <p:sp>
        <p:nvSpPr>
          <p:cNvPr id="10" name="TextBox 10"/>
          <p:cNvSpPr txBox="1"/>
          <p:nvPr/>
        </p:nvSpPr>
        <p:spPr>
          <a:xfrm>
            <a:off x="4262526" y="5959604"/>
            <a:ext cx="2593910" cy="427590"/>
          </a:xfrm>
          <a:prstGeom prst="rect">
            <a:avLst/>
          </a:prstGeom>
        </p:spPr>
        <p:txBody>
          <a:bodyPr lIns="0" tIns="0" rIns="0" bIns="0" rtlCol="0" anchor="t">
            <a:spAutoFit/>
          </a:bodyPr>
          <a:lstStyle/>
          <a:p>
            <a:pPr algn="ctr">
              <a:lnSpc>
                <a:spcPts val="3477"/>
              </a:lnSpc>
            </a:pPr>
            <a:r>
              <a:rPr lang="en-US" sz="2483" b="1">
                <a:solidFill>
                  <a:srgbClr val="000000"/>
                </a:solidFill>
                <a:latin typeface="Arimo Bold"/>
                <a:ea typeface="Arimo Bold"/>
                <a:cs typeface="Arimo Bold"/>
                <a:sym typeface="Arimo Bold"/>
              </a:rPr>
              <a:t>Next.js</a:t>
            </a:r>
          </a:p>
        </p:txBody>
      </p:sp>
      <p:sp>
        <p:nvSpPr>
          <p:cNvPr id="11" name="TextBox 11"/>
          <p:cNvSpPr txBox="1"/>
          <p:nvPr/>
        </p:nvSpPr>
        <p:spPr>
          <a:xfrm>
            <a:off x="1028700" y="5942328"/>
            <a:ext cx="2500401" cy="427590"/>
          </a:xfrm>
          <a:prstGeom prst="rect">
            <a:avLst/>
          </a:prstGeom>
        </p:spPr>
        <p:txBody>
          <a:bodyPr lIns="0" tIns="0" rIns="0" bIns="0" rtlCol="0" anchor="t">
            <a:spAutoFit/>
          </a:bodyPr>
          <a:lstStyle/>
          <a:p>
            <a:pPr algn="ctr">
              <a:lnSpc>
                <a:spcPts val="3477"/>
              </a:lnSpc>
            </a:pPr>
            <a:r>
              <a:rPr lang="en-US" sz="2483" b="1">
                <a:solidFill>
                  <a:srgbClr val="000000"/>
                </a:solidFill>
                <a:latin typeface="Arimo Bold"/>
                <a:ea typeface="Arimo Bold"/>
                <a:cs typeface="Arimo Bold"/>
                <a:sym typeface="Arimo Bold"/>
              </a:rPr>
              <a:t>React.js</a:t>
            </a:r>
          </a:p>
        </p:txBody>
      </p:sp>
      <p:sp>
        <p:nvSpPr>
          <p:cNvPr id="12" name="TextBox 12"/>
          <p:cNvSpPr txBox="1"/>
          <p:nvPr/>
        </p:nvSpPr>
        <p:spPr>
          <a:xfrm>
            <a:off x="1786376" y="537481"/>
            <a:ext cx="14715248" cy="1057201"/>
          </a:xfrm>
          <a:prstGeom prst="rect">
            <a:avLst/>
          </a:prstGeom>
        </p:spPr>
        <p:txBody>
          <a:bodyPr lIns="0" tIns="0" rIns="0" bIns="0" rtlCol="0" anchor="t">
            <a:spAutoFit/>
          </a:bodyPr>
          <a:lstStyle/>
          <a:p>
            <a:pPr algn="ctr">
              <a:lnSpc>
                <a:spcPts val="8400"/>
              </a:lnSpc>
            </a:pPr>
            <a:r>
              <a:rPr lang="en-US" sz="6000" b="1">
                <a:solidFill>
                  <a:srgbClr val="DB11FB"/>
                </a:solidFill>
                <a:latin typeface="Arimo Bold"/>
                <a:ea typeface="Arimo Bold"/>
                <a:cs typeface="Arimo Bold"/>
                <a:sym typeface="Arimo Bold"/>
              </a:rPr>
              <a:t>FRONTEND </a:t>
            </a:r>
          </a:p>
        </p:txBody>
      </p:sp>
      <p:sp>
        <p:nvSpPr>
          <p:cNvPr id="13" name="TextBox 13"/>
          <p:cNvSpPr txBox="1"/>
          <p:nvPr/>
        </p:nvSpPr>
        <p:spPr>
          <a:xfrm>
            <a:off x="11162068" y="5942328"/>
            <a:ext cx="2414505" cy="427590"/>
          </a:xfrm>
          <a:prstGeom prst="rect">
            <a:avLst/>
          </a:prstGeom>
        </p:spPr>
        <p:txBody>
          <a:bodyPr lIns="0" tIns="0" rIns="0" bIns="0" rtlCol="0" anchor="t">
            <a:spAutoFit/>
          </a:bodyPr>
          <a:lstStyle/>
          <a:p>
            <a:pPr algn="ctr">
              <a:lnSpc>
                <a:spcPts val="3477"/>
              </a:lnSpc>
            </a:pPr>
            <a:r>
              <a:rPr lang="en-US" sz="2483" b="1">
                <a:solidFill>
                  <a:srgbClr val="000000"/>
                </a:solidFill>
                <a:latin typeface="Arimo Bold"/>
                <a:ea typeface="Arimo Bold"/>
                <a:cs typeface="Arimo Bold"/>
                <a:sym typeface="Arimo Bold"/>
              </a:rPr>
              <a:t>Tailwind CSS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14820550" y="6819550"/>
            <a:ext cx="4492574" cy="2442327"/>
          </a:xfrm>
          <a:custGeom>
            <a:avLst/>
            <a:gdLst/>
            <a:ahLst/>
            <a:cxnLst/>
            <a:rect l="l" t="t" r="r" b="b"/>
            <a:pathLst>
              <a:path w="4492574" h="2442327">
                <a:moveTo>
                  <a:pt x="0" y="0"/>
                </a:moveTo>
                <a:lnTo>
                  <a:pt x="4492573" y="0"/>
                </a:lnTo>
                <a:lnTo>
                  <a:pt x="4492573" y="2442327"/>
                </a:lnTo>
                <a:lnTo>
                  <a:pt x="0" y="2442327"/>
                </a:lnTo>
                <a:lnTo>
                  <a:pt x="0" y="0"/>
                </a:lnTo>
                <a:close/>
              </a:path>
            </a:pathLst>
          </a:custGeom>
          <a:blipFill>
            <a:blip r:embed="rId3">
              <a:extLst>
                <a:ext uri="{96DAC541-7B7A-43D3-8B79-37D633B846F1}">
                  <asvg:svgBlip xmlns:asvg="http://schemas.microsoft.com/office/drawing/2016/SVG/main" r:embed="rId4"/>
                </a:ext>
              </a:extLst>
            </a:blip>
            <a:stretch>
              <a:fillRect t="-289" b="-289"/>
            </a:stretch>
          </a:blipFill>
        </p:spPr>
        <p:txBody>
          <a:bodyPr/>
          <a:lstStyle/>
          <a:p>
            <a:endParaRPr lang="en-US"/>
          </a:p>
        </p:txBody>
      </p:sp>
      <p:grpSp>
        <p:nvGrpSpPr>
          <p:cNvPr id="3" name="Group 3"/>
          <p:cNvGrpSpPr/>
          <p:nvPr/>
        </p:nvGrpSpPr>
        <p:grpSpPr>
          <a:xfrm>
            <a:off x="1537861" y="3597970"/>
            <a:ext cx="15212278" cy="3091060"/>
            <a:chOff x="0" y="0"/>
            <a:chExt cx="20283038" cy="4121413"/>
          </a:xfrm>
        </p:grpSpPr>
        <p:sp>
          <p:nvSpPr>
            <p:cNvPr id="4" name="Freeform 4"/>
            <p:cNvSpPr/>
            <p:nvPr/>
          </p:nvSpPr>
          <p:spPr>
            <a:xfrm>
              <a:off x="0" y="0"/>
              <a:ext cx="2008840" cy="2732022"/>
            </a:xfrm>
            <a:custGeom>
              <a:avLst/>
              <a:gdLst/>
              <a:ahLst/>
              <a:cxnLst/>
              <a:rect l="l" t="t" r="r" b="b"/>
              <a:pathLst>
                <a:path w="2008840" h="2732022">
                  <a:moveTo>
                    <a:pt x="0" y="0"/>
                  </a:moveTo>
                  <a:lnTo>
                    <a:pt x="2008840" y="0"/>
                  </a:lnTo>
                  <a:lnTo>
                    <a:pt x="2008840" y="2732022"/>
                  </a:lnTo>
                  <a:lnTo>
                    <a:pt x="0" y="2732022"/>
                  </a:lnTo>
                  <a:lnTo>
                    <a:pt x="0" y="0"/>
                  </a:lnTo>
                  <a:close/>
                </a:path>
              </a:pathLst>
            </a:custGeom>
            <a:blipFill>
              <a:blip r:embed="rId5"/>
              <a:stretch>
                <a:fillRect/>
              </a:stretch>
            </a:blipFill>
          </p:spPr>
          <p:txBody>
            <a:bodyPr/>
            <a:lstStyle/>
            <a:p>
              <a:endParaRPr lang="en-US"/>
            </a:p>
          </p:txBody>
        </p:sp>
        <p:sp>
          <p:nvSpPr>
            <p:cNvPr id="5" name="Freeform 5"/>
            <p:cNvSpPr/>
            <p:nvPr/>
          </p:nvSpPr>
          <p:spPr>
            <a:xfrm>
              <a:off x="3787866" y="0"/>
              <a:ext cx="3700824" cy="2732022"/>
            </a:xfrm>
            <a:custGeom>
              <a:avLst/>
              <a:gdLst/>
              <a:ahLst/>
              <a:cxnLst/>
              <a:rect l="l" t="t" r="r" b="b"/>
              <a:pathLst>
                <a:path w="3700824" h="2732022">
                  <a:moveTo>
                    <a:pt x="0" y="0"/>
                  </a:moveTo>
                  <a:lnTo>
                    <a:pt x="3700824" y="0"/>
                  </a:lnTo>
                  <a:lnTo>
                    <a:pt x="3700824" y="2732022"/>
                  </a:lnTo>
                  <a:lnTo>
                    <a:pt x="0" y="2732022"/>
                  </a:lnTo>
                  <a:lnTo>
                    <a:pt x="0" y="0"/>
                  </a:lnTo>
                  <a:close/>
                </a:path>
              </a:pathLst>
            </a:custGeom>
            <a:blipFill>
              <a:blip r:embed="rId6"/>
              <a:stretch>
                <a:fillRect/>
              </a:stretch>
            </a:blipFill>
          </p:spPr>
          <p:txBody>
            <a:bodyPr/>
            <a:lstStyle/>
            <a:p>
              <a:endParaRPr lang="en-US"/>
            </a:p>
          </p:txBody>
        </p:sp>
        <p:sp>
          <p:nvSpPr>
            <p:cNvPr id="6" name="Freeform 6"/>
            <p:cNvSpPr/>
            <p:nvPr/>
          </p:nvSpPr>
          <p:spPr>
            <a:xfrm>
              <a:off x="9267717" y="0"/>
              <a:ext cx="2890073" cy="2732022"/>
            </a:xfrm>
            <a:custGeom>
              <a:avLst/>
              <a:gdLst/>
              <a:ahLst/>
              <a:cxnLst/>
              <a:rect l="l" t="t" r="r" b="b"/>
              <a:pathLst>
                <a:path w="2890073" h="2732022">
                  <a:moveTo>
                    <a:pt x="0" y="0"/>
                  </a:moveTo>
                  <a:lnTo>
                    <a:pt x="2890073" y="0"/>
                  </a:lnTo>
                  <a:lnTo>
                    <a:pt x="2890073" y="2732022"/>
                  </a:lnTo>
                  <a:lnTo>
                    <a:pt x="0" y="2732022"/>
                  </a:lnTo>
                  <a:lnTo>
                    <a:pt x="0" y="0"/>
                  </a:lnTo>
                  <a:close/>
                </a:path>
              </a:pathLst>
            </a:custGeom>
            <a:blipFill>
              <a:blip r:embed="rId7"/>
              <a:stretch>
                <a:fillRect/>
              </a:stretch>
            </a:blipFill>
          </p:spPr>
          <p:txBody>
            <a:bodyPr/>
            <a:lstStyle/>
            <a:p>
              <a:endParaRPr lang="en-US"/>
            </a:p>
          </p:txBody>
        </p:sp>
        <p:sp>
          <p:nvSpPr>
            <p:cNvPr id="7" name="Freeform 7"/>
            <p:cNvSpPr/>
            <p:nvPr/>
          </p:nvSpPr>
          <p:spPr>
            <a:xfrm>
              <a:off x="13936817" y="0"/>
              <a:ext cx="1905585" cy="2732022"/>
            </a:xfrm>
            <a:custGeom>
              <a:avLst/>
              <a:gdLst/>
              <a:ahLst/>
              <a:cxnLst/>
              <a:rect l="l" t="t" r="r" b="b"/>
              <a:pathLst>
                <a:path w="1905585" h="2732022">
                  <a:moveTo>
                    <a:pt x="0" y="0"/>
                  </a:moveTo>
                  <a:lnTo>
                    <a:pt x="1905585" y="0"/>
                  </a:lnTo>
                  <a:lnTo>
                    <a:pt x="1905585" y="2732022"/>
                  </a:lnTo>
                  <a:lnTo>
                    <a:pt x="0" y="273202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8" name="Freeform 8"/>
            <p:cNvSpPr/>
            <p:nvPr/>
          </p:nvSpPr>
          <p:spPr>
            <a:xfrm>
              <a:off x="17621429" y="0"/>
              <a:ext cx="2661609" cy="2732022"/>
            </a:xfrm>
            <a:custGeom>
              <a:avLst/>
              <a:gdLst/>
              <a:ahLst/>
              <a:cxnLst/>
              <a:rect l="l" t="t" r="r" b="b"/>
              <a:pathLst>
                <a:path w="2661609" h="2732022">
                  <a:moveTo>
                    <a:pt x="0" y="0"/>
                  </a:moveTo>
                  <a:lnTo>
                    <a:pt x="2661609" y="0"/>
                  </a:lnTo>
                  <a:lnTo>
                    <a:pt x="2661609" y="2732022"/>
                  </a:lnTo>
                  <a:lnTo>
                    <a:pt x="0" y="2732022"/>
                  </a:lnTo>
                  <a:lnTo>
                    <a:pt x="0" y="0"/>
                  </a:lnTo>
                  <a:close/>
                </a:path>
              </a:pathLst>
            </a:custGeom>
            <a:blipFill>
              <a:blip r:embed="rId10"/>
              <a:stretch>
                <a:fillRect/>
              </a:stretch>
            </a:blipFill>
          </p:spPr>
          <p:txBody>
            <a:bodyPr/>
            <a:lstStyle/>
            <a:p>
              <a:endParaRPr lang="en-US"/>
            </a:p>
          </p:txBody>
        </p:sp>
        <p:sp>
          <p:nvSpPr>
            <p:cNvPr id="9" name="TextBox 9"/>
            <p:cNvSpPr txBox="1"/>
            <p:nvPr/>
          </p:nvSpPr>
          <p:spPr>
            <a:xfrm>
              <a:off x="311037" y="3049639"/>
              <a:ext cx="1427034" cy="709045"/>
            </a:xfrm>
            <a:prstGeom prst="rect">
              <a:avLst/>
            </a:prstGeom>
          </p:spPr>
          <p:txBody>
            <a:bodyPr lIns="0" tIns="0" rIns="0" bIns="0" rtlCol="0" anchor="t">
              <a:spAutoFit/>
            </a:bodyPr>
            <a:lstStyle/>
            <a:p>
              <a:pPr algn="ctr">
                <a:lnSpc>
                  <a:spcPts val="4364"/>
                </a:lnSpc>
              </a:pPr>
              <a:r>
                <a:rPr lang="en-US" sz="3117" b="1">
                  <a:solidFill>
                    <a:srgbClr val="D322FF"/>
                  </a:solidFill>
                  <a:latin typeface="DejaVu Serif Bold"/>
                  <a:ea typeface="DejaVu Serif Bold"/>
                  <a:cs typeface="DejaVu Serif Bold"/>
                  <a:sym typeface="DejaVu Serif Bold"/>
                </a:rPr>
                <a:t>Giriş</a:t>
              </a:r>
            </a:p>
          </p:txBody>
        </p:sp>
        <p:sp>
          <p:nvSpPr>
            <p:cNvPr id="10" name="TextBox 10"/>
            <p:cNvSpPr txBox="1"/>
            <p:nvPr/>
          </p:nvSpPr>
          <p:spPr>
            <a:xfrm>
              <a:off x="3936277" y="3049639"/>
              <a:ext cx="3197258" cy="709045"/>
            </a:xfrm>
            <a:prstGeom prst="rect">
              <a:avLst/>
            </a:prstGeom>
          </p:spPr>
          <p:txBody>
            <a:bodyPr lIns="0" tIns="0" rIns="0" bIns="0" rtlCol="0" anchor="t">
              <a:spAutoFit/>
            </a:bodyPr>
            <a:lstStyle/>
            <a:p>
              <a:pPr algn="ctr">
                <a:lnSpc>
                  <a:spcPts val="4364"/>
                </a:lnSpc>
              </a:pPr>
              <a:r>
                <a:rPr lang="en-US" sz="3117" b="1">
                  <a:solidFill>
                    <a:srgbClr val="D322FF"/>
                  </a:solidFill>
                  <a:latin typeface="DejaVu Serif Bold"/>
                  <a:ea typeface="DejaVu Serif Bold"/>
                  <a:cs typeface="DejaVu Serif Bold"/>
                  <a:sym typeface="DejaVu Serif Bold"/>
                </a:rPr>
                <a:t>Ürün Keşfi</a:t>
              </a:r>
            </a:p>
          </p:txBody>
        </p:sp>
        <p:sp>
          <p:nvSpPr>
            <p:cNvPr id="11" name="TextBox 11"/>
            <p:cNvSpPr txBox="1"/>
            <p:nvPr/>
          </p:nvSpPr>
          <p:spPr>
            <a:xfrm>
              <a:off x="9331740" y="3049639"/>
              <a:ext cx="2525896" cy="709045"/>
            </a:xfrm>
            <a:prstGeom prst="rect">
              <a:avLst/>
            </a:prstGeom>
          </p:spPr>
          <p:txBody>
            <a:bodyPr lIns="0" tIns="0" rIns="0" bIns="0" rtlCol="0" anchor="t">
              <a:spAutoFit/>
            </a:bodyPr>
            <a:lstStyle/>
            <a:p>
              <a:pPr algn="ctr">
                <a:lnSpc>
                  <a:spcPts val="4364"/>
                </a:lnSpc>
              </a:pPr>
              <a:r>
                <a:rPr lang="en-US" sz="3117" b="1">
                  <a:solidFill>
                    <a:srgbClr val="D322FF"/>
                  </a:solidFill>
                  <a:latin typeface="DejaVu Serif Bold"/>
                  <a:ea typeface="DejaVu Serif Bold"/>
                  <a:cs typeface="DejaVu Serif Bold"/>
                  <a:sym typeface="DejaVu Serif Bold"/>
                </a:rPr>
                <a:t>Alışveriş</a:t>
              </a:r>
            </a:p>
          </p:txBody>
        </p:sp>
        <p:sp>
          <p:nvSpPr>
            <p:cNvPr id="12" name="TextBox 12"/>
            <p:cNvSpPr txBox="1"/>
            <p:nvPr/>
          </p:nvSpPr>
          <p:spPr>
            <a:xfrm>
              <a:off x="13558803" y="2686910"/>
              <a:ext cx="2661609" cy="1434503"/>
            </a:xfrm>
            <a:prstGeom prst="rect">
              <a:avLst/>
            </a:prstGeom>
          </p:spPr>
          <p:txBody>
            <a:bodyPr wrap="square" lIns="0" tIns="0" rIns="0" bIns="0" rtlCol="0" anchor="t">
              <a:spAutoFit/>
            </a:bodyPr>
            <a:lstStyle/>
            <a:p>
              <a:pPr algn="ctr">
                <a:lnSpc>
                  <a:spcPts val="4364"/>
                </a:lnSpc>
              </a:pPr>
              <a:r>
                <a:rPr lang="en-US" sz="3117" b="1" err="1">
                  <a:solidFill>
                    <a:srgbClr val="D322FF"/>
                  </a:solidFill>
                  <a:latin typeface="DejaVu Serif Bold"/>
                  <a:ea typeface="DejaVu Serif Bold"/>
                  <a:cs typeface="DejaVu Serif Bold"/>
                  <a:sym typeface="DejaVu Serif Bold"/>
                </a:rPr>
                <a:t>Satıcı</a:t>
              </a:r>
              <a:endParaRPr lang="en-US" sz="3117" b="1">
                <a:solidFill>
                  <a:srgbClr val="D322FF"/>
                </a:solidFill>
                <a:latin typeface="DejaVu Serif Bold"/>
                <a:ea typeface="DejaVu Serif Bold"/>
                <a:cs typeface="DejaVu Serif Bold"/>
                <a:sym typeface="DejaVu Serif Bold"/>
              </a:endParaRPr>
            </a:p>
            <a:p>
              <a:pPr algn="ctr">
                <a:lnSpc>
                  <a:spcPts val="4364"/>
                </a:lnSpc>
              </a:pPr>
              <a:r>
                <a:rPr lang="en-US" sz="3100" b="1" err="1">
                  <a:solidFill>
                    <a:srgbClr val="D322FF"/>
                  </a:solidFill>
                  <a:latin typeface="DejaVu Serif Bold"/>
                  <a:ea typeface="DejaVu Serif Bold"/>
                  <a:cs typeface="DejaVu Serif Bold"/>
                  <a:sym typeface="DejaVu Serif Bold"/>
                </a:rPr>
                <a:t>Yönetimi</a:t>
              </a:r>
              <a:endParaRPr lang="en-US" sz="3100" b="1" err="1">
                <a:solidFill>
                  <a:srgbClr val="D322FF"/>
                </a:solidFill>
                <a:latin typeface="DejaVu Serif Bold"/>
                <a:ea typeface="DejaVu Serif Bold"/>
                <a:cs typeface="DejaVu Serif Bold"/>
              </a:endParaRPr>
            </a:p>
          </p:txBody>
        </p:sp>
        <p:sp>
          <p:nvSpPr>
            <p:cNvPr id="13" name="TextBox 13"/>
            <p:cNvSpPr txBox="1"/>
            <p:nvPr/>
          </p:nvSpPr>
          <p:spPr>
            <a:xfrm>
              <a:off x="17945692" y="2686910"/>
              <a:ext cx="2068711" cy="1434503"/>
            </a:xfrm>
            <a:prstGeom prst="rect">
              <a:avLst/>
            </a:prstGeom>
          </p:spPr>
          <p:txBody>
            <a:bodyPr lIns="0" tIns="0" rIns="0" bIns="0" rtlCol="0" anchor="t">
              <a:spAutoFit/>
            </a:bodyPr>
            <a:lstStyle/>
            <a:p>
              <a:pPr algn="ctr">
                <a:lnSpc>
                  <a:spcPts val="4364"/>
                </a:lnSpc>
              </a:pPr>
              <a:r>
                <a:rPr lang="en-US" sz="3117" b="1">
                  <a:solidFill>
                    <a:srgbClr val="D322FF"/>
                  </a:solidFill>
                  <a:latin typeface="DejaVu Serif Bold"/>
                  <a:ea typeface="DejaVu Serif Bold"/>
                  <a:cs typeface="DejaVu Serif Bold"/>
                  <a:sym typeface="DejaVu Serif Bold"/>
                </a:rPr>
                <a:t>Sipariş</a:t>
              </a:r>
            </a:p>
            <a:p>
              <a:pPr algn="ctr">
                <a:lnSpc>
                  <a:spcPts val="4364"/>
                </a:lnSpc>
              </a:pPr>
              <a:r>
                <a:rPr lang="en-US" sz="3117" b="1">
                  <a:solidFill>
                    <a:srgbClr val="D322FF"/>
                  </a:solidFill>
                  <a:latin typeface="DejaVu Serif Bold"/>
                  <a:ea typeface="DejaVu Serif Bold"/>
                  <a:cs typeface="DejaVu Serif Bold"/>
                  <a:sym typeface="DejaVu Serif Bold"/>
                </a:rPr>
                <a:t>Takibi</a:t>
              </a:r>
            </a:p>
          </p:txBody>
        </p:sp>
        <p:sp>
          <p:nvSpPr>
            <p:cNvPr id="14" name="Freeform 14"/>
            <p:cNvSpPr/>
            <p:nvPr/>
          </p:nvSpPr>
          <p:spPr>
            <a:xfrm>
              <a:off x="2300058" y="2018957"/>
              <a:ext cx="1214512" cy="345049"/>
            </a:xfrm>
            <a:custGeom>
              <a:avLst/>
              <a:gdLst/>
              <a:ahLst/>
              <a:cxnLst/>
              <a:rect l="l" t="t" r="r" b="b"/>
              <a:pathLst>
                <a:path w="1214512" h="345049">
                  <a:moveTo>
                    <a:pt x="0" y="0"/>
                  </a:moveTo>
                  <a:lnTo>
                    <a:pt x="1214512" y="0"/>
                  </a:lnTo>
                  <a:lnTo>
                    <a:pt x="1214512" y="345049"/>
                  </a:lnTo>
                  <a:lnTo>
                    <a:pt x="0" y="345049"/>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5" name="Freeform 15"/>
            <p:cNvSpPr/>
            <p:nvPr/>
          </p:nvSpPr>
          <p:spPr>
            <a:xfrm rot="-10800000">
              <a:off x="2300058" y="1466275"/>
              <a:ext cx="1214512" cy="345049"/>
            </a:xfrm>
            <a:custGeom>
              <a:avLst/>
              <a:gdLst/>
              <a:ahLst/>
              <a:cxnLst/>
              <a:rect l="l" t="t" r="r" b="b"/>
              <a:pathLst>
                <a:path w="1214512" h="345049">
                  <a:moveTo>
                    <a:pt x="0" y="0"/>
                  </a:moveTo>
                  <a:lnTo>
                    <a:pt x="1214512" y="0"/>
                  </a:lnTo>
                  <a:lnTo>
                    <a:pt x="1214512" y="345049"/>
                  </a:lnTo>
                  <a:lnTo>
                    <a:pt x="0" y="345049"/>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6" name="Freeform 16"/>
            <p:cNvSpPr/>
            <p:nvPr/>
          </p:nvSpPr>
          <p:spPr>
            <a:xfrm>
              <a:off x="7900697" y="1466275"/>
              <a:ext cx="1214512" cy="345049"/>
            </a:xfrm>
            <a:custGeom>
              <a:avLst/>
              <a:gdLst/>
              <a:ahLst/>
              <a:cxnLst/>
              <a:rect l="l" t="t" r="r" b="b"/>
              <a:pathLst>
                <a:path w="1214512" h="345049">
                  <a:moveTo>
                    <a:pt x="0" y="0"/>
                  </a:moveTo>
                  <a:lnTo>
                    <a:pt x="1214512" y="0"/>
                  </a:lnTo>
                  <a:lnTo>
                    <a:pt x="1214512" y="345049"/>
                  </a:lnTo>
                  <a:lnTo>
                    <a:pt x="0" y="345049"/>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7" name="Freeform 17"/>
            <p:cNvSpPr/>
            <p:nvPr/>
          </p:nvSpPr>
          <p:spPr>
            <a:xfrm>
              <a:off x="12299490" y="1466275"/>
              <a:ext cx="1214512" cy="345049"/>
            </a:xfrm>
            <a:custGeom>
              <a:avLst/>
              <a:gdLst/>
              <a:ahLst/>
              <a:cxnLst/>
              <a:rect l="l" t="t" r="r" b="b"/>
              <a:pathLst>
                <a:path w="1214512" h="345049">
                  <a:moveTo>
                    <a:pt x="0" y="0"/>
                  </a:moveTo>
                  <a:lnTo>
                    <a:pt x="1214512" y="0"/>
                  </a:lnTo>
                  <a:lnTo>
                    <a:pt x="1214512" y="345049"/>
                  </a:lnTo>
                  <a:lnTo>
                    <a:pt x="0" y="345049"/>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8" name="Freeform 18"/>
            <p:cNvSpPr/>
            <p:nvPr/>
          </p:nvSpPr>
          <p:spPr>
            <a:xfrm>
              <a:off x="16175184" y="1466275"/>
              <a:ext cx="1214512" cy="345049"/>
            </a:xfrm>
            <a:custGeom>
              <a:avLst/>
              <a:gdLst/>
              <a:ahLst/>
              <a:cxnLst/>
              <a:rect l="l" t="t" r="r" b="b"/>
              <a:pathLst>
                <a:path w="1214512" h="345049">
                  <a:moveTo>
                    <a:pt x="0" y="0"/>
                  </a:moveTo>
                  <a:lnTo>
                    <a:pt x="1214512" y="0"/>
                  </a:lnTo>
                  <a:lnTo>
                    <a:pt x="1214512" y="345049"/>
                  </a:lnTo>
                  <a:lnTo>
                    <a:pt x="0" y="345049"/>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grpSp>
      <p:sp>
        <p:nvSpPr>
          <p:cNvPr id="19" name="TextBox 19"/>
          <p:cNvSpPr txBox="1"/>
          <p:nvPr/>
        </p:nvSpPr>
        <p:spPr>
          <a:xfrm>
            <a:off x="5278554" y="923925"/>
            <a:ext cx="8141108" cy="796052"/>
          </a:xfrm>
          <a:prstGeom prst="rect">
            <a:avLst/>
          </a:prstGeom>
        </p:spPr>
        <p:txBody>
          <a:bodyPr wrap="square" lIns="0" tIns="0" rIns="0" bIns="0" rtlCol="0" anchor="t">
            <a:spAutoFit/>
          </a:bodyPr>
          <a:lstStyle/>
          <a:p>
            <a:pPr algn="l">
              <a:lnSpc>
                <a:spcPts val="6287"/>
              </a:lnSpc>
            </a:pPr>
            <a:r>
              <a:rPr lang="en-US" sz="5239" b="1" err="1">
                <a:solidFill>
                  <a:srgbClr val="D322FF"/>
                </a:solidFill>
                <a:latin typeface="Times New Roman Bold"/>
                <a:ea typeface="Times New Roman Bold"/>
                <a:cs typeface="Times New Roman Bold"/>
                <a:sym typeface="Times New Roman Bold"/>
              </a:rPr>
              <a:t>ShopEase'te</a:t>
            </a:r>
            <a:r>
              <a:rPr lang="en-US" sz="5239" b="1">
                <a:solidFill>
                  <a:srgbClr val="D322FF"/>
                </a:solidFill>
                <a:latin typeface="Times New Roman Bold"/>
                <a:ea typeface="Times New Roman Bold"/>
                <a:cs typeface="Times New Roman Bold"/>
                <a:sym typeface="Times New Roman Bold"/>
              </a:rPr>
              <a:t> </a:t>
            </a:r>
            <a:r>
              <a:rPr lang="en-US" sz="5239" b="1" err="1">
                <a:solidFill>
                  <a:srgbClr val="D322FF"/>
                </a:solidFill>
                <a:latin typeface="Times New Roman Bold"/>
                <a:ea typeface="Times New Roman Bold"/>
                <a:cs typeface="Times New Roman Bold"/>
                <a:sym typeface="Times New Roman Bold"/>
              </a:rPr>
              <a:t>Kullanıcı</a:t>
            </a:r>
            <a:r>
              <a:rPr lang="en-US" sz="5239" b="1">
                <a:solidFill>
                  <a:srgbClr val="D322FF"/>
                </a:solidFill>
                <a:latin typeface="Times New Roman Bold"/>
                <a:ea typeface="Times New Roman Bold"/>
                <a:cs typeface="Times New Roman Bold"/>
                <a:sym typeface="Times New Roman Bold"/>
              </a:rPr>
              <a:t> </a:t>
            </a:r>
            <a:r>
              <a:rPr lang="en-US" sz="5239" b="1" err="1">
                <a:solidFill>
                  <a:srgbClr val="D322FF"/>
                </a:solidFill>
                <a:latin typeface="Times New Roman Bold"/>
                <a:ea typeface="Times New Roman Bold"/>
                <a:cs typeface="Times New Roman Bold"/>
                <a:sym typeface="Times New Roman Bold"/>
              </a:rPr>
              <a:t>Akışı</a:t>
            </a:r>
            <a:endParaRPr lang="en-US" sz="5239" b="1">
              <a:solidFill>
                <a:srgbClr val="D322FF"/>
              </a:solidFill>
              <a:latin typeface="Times New Roman Bold"/>
              <a:ea typeface="Times New Roman Bold"/>
              <a:cs typeface="Times New Roman Bold"/>
              <a:sym typeface="Times New Roman Bo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grpSp>
        <p:nvGrpSpPr>
          <p:cNvPr id="2" name="Group 2"/>
          <p:cNvGrpSpPr/>
          <p:nvPr/>
        </p:nvGrpSpPr>
        <p:grpSpPr>
          <a:xfrm>
            <a:off x="14028713" y="-2544328"/>
            <a:ext cx="6921606" cy="6013145"/>
            <a:chOff x="0" y="0"/>
            <a:chExt cx="10846279" cy="9422704"/>
          </a:xfrm>
        </p:grpSpPr>
        <p:sp>
          <p:nvSpPr>
            <p:cNvPr id="3" name="Freeform 3"/>
            <p:cNvSpPr/>
            <p:nvPr/>
          </p:nvSpPr>
          <p:spPr>
            <a:xfrm>
              <a:off x="0" y="0"/>
              <a:ext cx="10846308" cy="9422765"/>
            </a:xfrm>
            <a:custGeom>
              <a:avLst/>
              <a:gdLst/>
              <a:ahLst/>
              <a:cxnLst/>
              <a:rect l="l" t="t" r="r" b="b"/>
              <a:pathLst>
                <a:path w="10846308" h="9422765">
                  <a:moveTo>
                    <a:pt x="0" y="0"/>
                  </a:moveTo>
                  <a:lnTo>
                    <a:pt x="10846308" y="0"/>
                  </a:lnTo>
                  <a:lnTo>
                    <a:pt x="10846308" y="9422765"/>
                  </a:lnTo>
                  <a:lnTo>
                    <a:pt x="0" y="9422765"/>
                  </a:lnTo>
                  <a:lnTo>
                    <a:pt x="0" y="0"/>
                  </a:lnTo>
                  <a:close/>
                </a:path>
              </a:pathLst>
            </a:custGeom>
            <a:blipFill>
              <a:blip r:embed="rId3"/>
              <a:stretch>
                <a:fillRect t="-20" b="-19"/>
              </a:stretch>
            </a:blipFill>
          </p:spPr>
          <p:txBody>
            <a:bodyPr/>
            <a:lstStyle/>
            <a:p>
              <a:endParaRPr lang="en-US"/>
            </a:p>
          </p:txBody>
        </p:sp>
      </p:grpSp>
      <p:sp>
        <p:nvSpPr>
          <p:cNvPr id="4" name="Freeform 4"/>
          <p:cNvSpPr/>
          <p:nvPr/>
        </p:nvSpPr>
        <p:spPr>
          <a:xfrm>
            <a:off x="472360" y="1933967"/>
            <a:ext cx="4524653" cy="2797058"/>
          </a:xfrm>
          <a:custGeom>
            <a:avLst/>
            <a:gdLst/>
            <a:ahLst/>
            <a:cxnLst/>
            <a:rect l="l" t="t" r="r" b="b"/>
            <a:pathLst>
              <a:path w="4524653" h="2797058">
                <a:moveTo>
                  <a:pt x="0" y="0"/>
                </a:moveTo>
                <a:lnTo>
                  <a:pt x="4524653" y="0"/>
                </a:lnTo>
                <a:lnTo>
                  <a:pt x="4524653" y="2797058"/>
                </a:lnTo>
                <a:lnTo>
                  <a:pt x="0" y="2797058"/>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5" name="Freeform 5"/>
          <p:cNvSpPr/>
          <p:nvPr/>
        </p:nvSpPr>
        <p:spPr>
          <a:xfrm>
            <a:off x="472360" y="5016607"/>
            <a:ext cx="6861563" cy="4241693"/>
          </a:xfrm>
          <a:custGeom>
            <a:avLst/>
            <a:gdLst/>
            <a:ahLst/>
            <a:cxnLst/>
            <a:rect l="l" t="t" r="r" b="b"/>
            <a:pathLst>
              <a:path w="6861563" h="4241693">
                <a:moveTo>
                  <a:pt x="0" y="0"/>
                </a:moveTo>
                <a:lnTo>
                  <a:pt x="6861563" y="0"/>
                </a:lnTo>
                <a:lnTo>
                  <a:pt x="6861563" y="4241693"/>
                </a:lnTo>
                <a:lnTo>
                  <a:pt x="0" y="42416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a:off x="8183322" y="5016607"/>
            <a:ext cx="6861563" cy="4241693"/>
          </a:xfrm>
          <a:custGeom>
            <a:avLst/>
            <a:gdLst/>
            <a:ahLst/>
            <a:cxnLst/>
            <a:rect l="l" t="t" r="r" b="b"/>
            <a:pathLst>
              <a:path w="6861563" h="4241693">
                <a:moveTo>
                  <a:pt x="0" y="0"/>
                </a:moveTo>
                <a:lnTo>
                  <a:pt x="6861563" y="0"/>
                </a:lnTo>
                <a:lnTo>
                  <a:pt x="6861563" y="4241693"/>
                </a:lnTo>
                <a:lnTo>
                  <a:pt x="0" y="42416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5496296" y="1933967"/>
            <a:ext cx="4524653" cy="2797058"/>
          </a:xfrm>
          <a:custGeom>
            <a:avLst/>
            <a:gdLst/>
            <a:ahLst/>
            <a:cxnLst/>
            <a:rect l="l" t="t" r="r" b="b"/>
            <a:pathLst>
              <a:path w="4524653" h="2797058">
                <a:moveTo>
                  <a:pt x="0" y="0"/>
                </a:moveTo>
                <a:lnTo>
                  <a:pt x="4524653" y="0"/>
                </a:lnTo>
                <a:lnTo>
                  <a:pt x="4524653" y="2797058"/>
                </a:lnTo>
                <a:lnTo>
                  <a:pt x="0" y="27970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p:cNvSpPr/>
          <p:nvPr/>
        </p:nvSpPr>
        <p:spPr>
          <a:xfrm>
            <a:off x="10520232" y="1933967"/>
            <a:ext cx="4524653" cy="2797058"/>
          </a:xfrm>
          <a:custGeom>
            <a:avLst/>
            <a:gdLst/>
            <a:ahLst/>
            <a:cxnLst/>
            <a:rect l="l" t="t" r="r" b="b"/>
            <a:pathLst>
              <a:path w="4524653" h="2797058">
                <a:moveTo>
                  <a:pt x="0" y="0"/>
                </a:moveTo>
                <a:lnTo>
                  <a:pt x="4524653" y="0"/>
                </a:lnTo>
                <a:lnTo>
                  <a:pt x="4524653" y="2797058"/>
                </a:lnTo>
                <a:lnTo>
                  <a:pt x="0" y="27970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a:off x="4724072" y="4487733"/>
            <a:ext cx="545881" cy="358297"/>
          </a:xfrm>
          <a:custGeom>
            <a:avLst/>
            <a:gdLst/>
            <a:ahLst/>
            <a:cxnLst/>
            <a:rect l="l" t="t" r="r" b="b"/>
            <a:pathLst>
              <a:path w="545881" h="358297">
                <a:moveTo>
                  <a:pt x="0" y="0"/>
                </a:moveTo>
                <a:lnTo>
                  <a:pt x="545882" y="0"/>
                </a:lnTo>
                <a:lnTo>
                  <a:pt x="545882" y="358296"/>
                </a:lnTo>
                <a:lnTo>
                  <a:pt x="0" y="35829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0" name="TextBox 10"/>
          <p:cNvSpPr txBox="1"/>
          <p:nvPr/>
        </p:nvSpPr>
        <p:spPr>
          <a:xfrm>
            <a:off x="472360" y="243170"/>
            <a:ext cx="10617452" cy="1059495"/>
          </a:xfrm>
          <a:prstGeom prst="rect">
            <a:avLst/>
          </a:prstGeom>
        </p:spPr>
        <p:txBody>
          <a:bodyPr lIns="0" tIns="0" rIns="0" bIns="0" rtlCol="0" anchor="t">
            <a:spAutoFit/>
          </a:bodyPr>
          <a:lstStyle/>
          <a:p>
            <a:pPr algn="l">
              <a:lnSpc>
                <a:spcPts val="7757"/>
              </a:lnSpc>
            </a:pPr>
            <a:r>
              <a:rPr lang="en-US" sz="5541" b="1">
                <a:solidFill>
                  <a:srgbClr val="D322FF"/>
                </a:solidFill>
                <a:latin typeface="Times New Roman Bold"/>
                <a:ea typeface="Times New Roman Bold"/>
                <a:cs typeface="Times New Roman Bold"/>
                <a:sym typeface="Times New Roman Bold"/>
              </a:rPr>
              <a:t>Bu Projede Neler Öğrendik?</a:t>
            </a:r>
          </a:p>
        </p:txBody>
      </p:sp>
      <p:sp>
        <p:nvSpPr>
          <p:cNvPr id="11" name="TextBox 11"/>
          <p:cNvSpPr txBox="1"/>
          <p:nvPr/>
        </p:nvSpPr>
        <p:spPr>
          <a:xfrm>
            <a:off x="914173" y="2702560"/>
            <a:ext cx="3641027" cy="1173821"/>
          </a:xfrm>
          <a:prstGeom prst="rect">
            <a:avLst/>
          </a:prstGeom>
        </p:spPr>
        <p:txBody>
          <a:bodyPr lIns="0" tIns="0" rIns="0" bIns="0" rtlCol="0" anchor="t">
            <a:spAutoFit/>
          </a:bodyPr>
          <a:lstStyle/>
          <a:p>
            <a:pPr algn="ctr">
              <a:lnSpc>
                <a:spcPts val="3025"/>
              </a:lnSpc>
              <a:spcBef>
                <a:spcPct val="0"/>
              </a:spcBef>
            </a:pPr>
            <a:r>
              <a:rPr lang="en-US" sz="2160">
                <a:solidFill>
                  <a:srgbClr val="000000"/>
                </a:solidFill>
                <a:latin typeface="Times New Roman"/>
                <a:ea typeface="Times New Roman"/>
                <a:cs typeface="Times New Roman"/>
                <a:sym typeface="Times New Roman"/>
              </a:rPr>
              <a:t>Katmanlı mimari ve SOLID prensiplerinin gerçek bir projede uygulanması.</a:t>
            </a:r>
          </a:p>
        </p:txBody>
      </p:sp>
      <p:sp>
        <p:nvSpPr>
          <p:cNvPr id="12" name="TextBox 12"/>
          <p:cNvSpPr txBox="1"/>
          <p:nvPr/>
        </p:nvSpPr>
        <p:spPr>
          <a:xfrm>
            <a:off x="5938109" y="2702723"/>
            <a:ext cx="3641027" cy="1173845"/>
          </a:xfrm>
          <a:prstGeom prst="rect">
            <a:avLst/>
          </a:prstGeom>
        </p:spPr>
        <p:txBody>
          <a:bodyPr lIns="0" tIns="0" rIns="0" bIns="0" rtlCol="0" anchor="t">
            <a:spAutoFit/>
          </a:bodyPr>
          <a:lstStyle/>
          <a:p>
            <a:pPr algn="ctr">
              <a:lnSpc>
                <a:spcPts val="3024"/>
              </a:lnSpc>
              <a:spcBef>
                <a:spcPct val="0"/>
              </a:spcBef>
            </a:pPr>
            <a:r>
              <a:rPr lang="en-US" sz="2160">
                <a:solidFill>
                  <a:srgbClr val="000000"/>
                </a:solidFill>
                <a:latin typeface="Times New Roman"/>
                <a:ea typeface="Times New Roman"/>
                <a:cs typeface="Times New Roman"/>
                <a:sym typeface="Times New Roman"/>
              </a:rPr>
              <a:t>JWT ile güvenli authentication/authorization mekanizmaları oluşturma.</a:t>
            </a:r>
          </a:p>
        </p:txBody>
      </p:sp>
      <p:sp>
        <p:nvSpPr>
          <p:cNvPr id="13" name="TextBox 13"/>
          <p:cNvSpPr txBox="1"/>
          <p:nvPr/>
        </p:nvSpPr>
        <p:spPr>
          <a:xfrm>
            <a:off x="10962045" y="2702723"/>
            <a:ext cx="3641027" cy="1173845"/>
          </a:xfrm>
          <a:prstGeom prst="rect">
            <a:avLst/>
          </a:prstGeom>
        </p:spPr>
        <p:txBody>
          <a:bodyPr lIns="0" tIns="0" rIns="0" bIns="0" rtlCol="0" anchor="t">
            <a:spAutoFit/>
          </a:bodyPr>
          <a:lstStyle/>
          <a:p>
            <a:pPr algn="ctr">
              <a:lnSpc>
                <a:spcPts val="3024"/>
              </a:lnSpc>
              <a:spcBef>
                <a:spcPct val="0"/>
              </a:spcBef>
            </a:pPr>
            <a:r>
              <a:rPr lang="en-US" sz="2160">
                <a:solidFill>
                  <a:srgbClr val="000000"/>
                </a:solidFill>
                <a:latin typeface="Times New Roman"/>
                <a:ea typeface="Times New Roman"/>
                <a:cs typeface="Times New Roman"/>
                <a:sym typeface="Times New Roman"/>
              </a:rPr>
              <a:t>Entity Framework Code-First yaklaşımıyla veritabanı yönetimi ve modelleme.</a:t>
            </a:r>
          </a:p>
        </p:txBody>
      </p:sp>
      <p:sp>
        <p:nvSpPr>
          <p:cNvPr id="14" name="TextBox 14"/>
          <p:cNvSpPr txBox="1"/>
          <p:nvPr/>
        </p:nvSpPr>
        <p:spPr>
          <a:xfrm>
            <a:off x="883353" y="6693847"/>
            <a:ext cx="6039576" cy="801488"/>
          </a:xfrm>
          <a:prstGeom prst="rect">
            <a:avLst/>
          </a:prstGeom>
        </p:spPr>
        <p:txBody>
          <a:bodyPr lIns="0" tIns="0" rIns="0" bIns="0" rtlCol="0" anchor="t">
            <a:spAutoFit/>
          </a:bodyPr>
          <a:lstStyle/>
          <a:p>
            <a:pPr algn="ctr">
              <a:lnSpc>
                <a:spcPts val="3061"/>
              </a:lnSpc>
              <a:spcBef>
                <a:spcPct val="0"/>
              </a:spcBef>
            </a:pPr>
            <a:r>
              <a:rPr lang="en-US" sz="2186">
                <a:solidFill>
                  <a:srgbClr val="000000"/>
                </a:solidFill>
                <a:latin typeface="Times New Roman"/>
                <a:ea typeface="Times New Roman"/>
                <a:cs typeface="Times New Roman"/>
                <a:sym typeface="Times New Roman"/>
              </a:rPr>
              <a:t>React &amp; Next.js </a:t>
            </a:r>
            <a:r>
              <a:rPr lang="en-US" sz="2186" err="1">
                <a:solidFill>
                  <a:srgbClr val="000000"/>
                </a:solidFill>
                <a:latin typeface="Times New Roman"/>
                <a:ea typeface="Times New Roman"/>
                <a:cs typeface="Times New Roman"/>
                <a:sym typeface="Times New Roman"/>
              </a:rPr>
              <a:t>ile</a:t>
            </a:r>
            <a:r>
              <a:rPr lang="en-US" sz="2186">
                <a:solidFill>
                  <a:srgbClr val="000000"/>
                </a:solidFill>
                <a:latin typeface="Times New Roman"/>
                <a:ea typeface="Times New Roman"/>
                <a:cs typeface="Times New Roman"/>
                <a:sym typeface="Times New Roman"/>
              </a:rPr>
              <a:t> modern, component </a:t>
            </a:r>
            <a:r>
              <a:rPr lang="en-US" sz="2186" err="1">
                <a:solidFill>
                  <a:srgbClr val="000000"/>
                </a:solidFill>
                <a:latin typeface="Times New Roman"/>
                <a:ea typeface="Times New Roman"/>
                <a:cs typeface="Times New Roman"/>
                <a:sym typeface="Times New Roman"/>
              </a:rPr>
              <a:t>bazlı</a:t>
            </a:r>
            <a:r>
              <a:rPr lang="en-US" sz="2186">
                <a:solidFill>
                  <a:srgbClr val="000000"/>
                </a:solidFill>
                <a:latin typeface="Times New Roman"/>
                <a:ea typeface="Times New Roman"/>
                <a:cs typeface="Times New Roman"/>
                <a:sym typeface="Times New Roman"/>
              </a:rPr>
              <a:t> </a:t>
            </a:r>
            <a:r>
              <a:rPr lang="en-US" sz="2186" err="1">
                <a:solidFill>
                  <a:srgbClr val="000000"/>
                </a:solidFill>
                <a:latin typeface="Times New Roman"/>
                <a:ea typeface="Times New Roman"/>
                <a:cs typeface="Times New Roman"/>
                <a:sym typeface="Times New Roman"/>
              </a:rPr>
              <a:t>ve</a:t>
            </a:r>
            <a:r>
              <a:rPr lang="en-US" sz="2186">
                <a:solidFill>
                  <a:srgbClr val="000000"/>
                </a:solidFill>
                <a:latin typeface="Times New Roman"/>
                <a:ea typeface="Times New Roman"/>
                <a:cs typeface="Times New Roman"/>
                <a:sym typeface="Times New Roman"/>
              </a:rPr>
              <a:t> </a:t>
            </a:r>
            <a:r>
              <a:rPr lang="en-US" sz="2186" err="1">
                <a:solidFill>
                  <a:srgbClr val="000000"/>
                </a:solidFill>
                <a:latin typeface="Times New Roman"/>
                <a:ea typeface="Times New Roman"/>
                <a:cs typeface="Times New Roman"/>
                <a:sym typeface="Times New Roman"/>
              </a:rPr>
              <a:t>performansı</a:t>
            </a:r>
            <a:r>
              <a:rPr lang="en-US" sz="2186">
                <a:solidFill>
                  <a:srgbClr val="000000"/>
                </a:solidFill>
                <a:latin typeface="Times New Roman"/>
                <a:ea typeface="Times New Roman"/>
                <a:cs typeface="Times New Roman"/>
                <a:sym typeface="Times New Roman"/>
              </a:rPr>
              <a:t> </a:t>
            </a:r>
            <a:r>
              <a:rPr lang="en-US" sz="2186" err="1">
                <a:solidFill>
                  <a:srgbClr val="000000"/>
                </a:solidFill>
                <a:latin typeface="Times New Roman"/>
                <a:ea typeface="Times New Roman"/>
                <a:cs typeface="Times New Roman"/>
                <a:sym typeface="Times New Roman"/>
              </a:rPr>
              <a:t>yüksek</a:t>
            </a:r>
            <a:r>
              <a:rPr lang="en-US" sz="2186">
                <a:solidFill>
                  <a:srgbClr val="000000"/>
                </a:solidFill>
                <a:latin typeface="Times New Roman"/>
                <a:ea typeface="Times New Roman"/>
                <a:cs typeface="Times New Roman"/>
                <a:sym typeface="Times New Roman"/>
              </a:rPr>
              <a:t> frontend </a:t>
            </a:r>
            <a:r>
              <a:rPr lang="en-US" sz="2186" err="1">
                <a:solidFill>
                  <a:srgbClr val="000000"/>
                </a:solidFill>
                <a:latin typeface="Times New Roman"/>
                <a:ea typeface="Times New Roman"/>
                <a:cs typeface="Times New Roman"/>
                <a:sym typeface="Times New Roman"/>
              </a:rPr>
              <a:t>geliştirme</a:t>
            </a:r>
            <a:r>
              <a:rPr lang="en-US" sz="2186">
                <a:solidFill>
                  <a:srgbClr val="000000"/>
                </a:solidFill>
                <a:latin typeface="Times New Roman"/>
                <a:ea typeface="Times New Roman"/>
                <a:cs typeface="Times New Roman"/>
                <a:sym typeface="Times New Roman"/>
              </a:rPr>
              <a:t>.</a:t>
            </a:r>
          </a:p>
        </p:txBody>
      </p:sp>
      <p:sp>
        <p:nvSpPr>
          <p:cNvPr id="15" name="TextBox 15"/>
          <p:cNvSpPr txBox="1"/>
          <p:nvPr/>
        </p:nvSpPr>
        <p:spPr>
          <a:xfrm>
            <a:off x="8594315" y="6693847"/>
            <a:ext cx="6039576" cy="761427"/>
          </a:xfrm>
          <a:prstGeom prst="rect">
            <a:avLst/>
          </a:prstGeom>
        </p:spPr>
        <p:txBody>
          <a:bodyPr lIns="0" tIns="0" rIns="0" bIns="0" rtlCol="0" anchor="t">
            <a:spAutoFit/>
          </a:bodyPr>
          <a:lstStyle/>
          <a:p>
            <a:pPr algn="ctr">
              <a:lnSpc>
                <a:spcPts val="3060"/>
              </a:lnSpc>
              <a:spcBef>
                <a:spcPct val="0"/>
              </a:spcBef>
            </a:pPr>
            <a:r>
              <a:rPr lang="en-US" sz="2186" err="1">
                <a:solidFill>
                  <a:srgbClr val="000000"/>
                </a:solidFill>
                <a:latin typeface="Times New Roman"/>
                <a:ea typeface="Times New Roman"/>
                <a:cs typeface="Times New Roman"/>
                <a:sym typeface="Times New Roman"/>
              </a:rPr>
              <a:t>Gerçek</a:t>
            </a:r>
            <a:r>
              <a:rPr lang="en-US" sz="2186">
                <a:solidFill>
                  <a:srgbClr val="000000"/>
                </a:solidFill>
                <a:latin typeface="Times New Roman"/>
                <a:ea typeface="Times New Roman"/>
                <a:cs typeface="Times New Roman"/>
                <a:sym typeface="Times New Roman"/>
              </a:rPr>
              <a:t> </a:t>
            </a:r>
            <a:r>
              <a:rPr lang="en-US" sz="2186" err="1">
                <a:solidFill>
                  <a:srgbClr val="000000"/>
                </a:solidFill>
                <a:latin typeface="Times New Roman"/>
                <a:ea typeface="Times New Roman"/>
                <a:cs typeface="Times New Roman"/>
                <a:sym typeface="Times New Roman"/>
              </a:rPr>
              <a:t>dünya</a:t>
            </a:r>
            <a:r>
              <a:rPr lang="en-US" sz="2186">
                <a:solidFill>
                  <a:srgbClr val="000000"/>
                </a:solidFill>
                <a:latin typeface="Times New Roman"/>
                <a:ea typeface="Times New Roman"/>
                <a:cs typeface="Times New Roman"/>
                <a:sym typeface="Times New Roman"/>
              </a:rPr>
              <a:t> </a:t>
            </a:r>
            <a:r>
              <a:rPr lang="en-US" sz="2186" err="1">
                <a:solidFill>
                  <a:srgbClr val="000000"/>
                </a:solidFill>
                <a:latin typeface="Times New Roman"/>
                <a:ea typeface="Times New Roman"/>
                <a:cs typeface="Times New Roman"/>
                <a:sym typeface="Times New Roman"/>
              </a:rPr>
              <a:t>projelerinde</a:t>
            </a:r>
            <a:r>
              <a:rPr lang="en-US" sz="2186">
                <a:solidFill>
                  <a:srgbClr val="000000"/>
                </a:solidFill>
                <a:latin typeface="Times New Roman"/>
                <a:ea typeface="Times New Roman"/>
                <a:cs typeface="Times New Roman"/>
                <a:sym typeface="Times New Roman"/>
              </a:rPr>
              <a:t> </a:t>
            </a:r>
            <a:r>
              <a:rPr lang="en-US" sz="2186" err="1">
                <a:solidFill>
                  <a:srgbClr val="000000"/>
                </a:solidFill>
                <a:latin typeface="Times New Roman"/>
                <a:ea typeface="Times New Roman"/>
                <a:cs typeface="Times New Roman"/>
                <a:sym typeface="Times New Roman"/>
              </a:rPr>
              <a:t>ekip</a:t>
            </a:r>
            <a:r>
              <a:rPr lang="en-US" sz="2186">
                <a:solidFill>
                  <a:srgbClr val="000000"/>
                </a:solidFill>
                <a:latin typeface="Times New Roman"/>
                <a:ea typeface="Times New Roman"/>
                <a:cs typeface="Times New Roman"/>
                <a:sym typeface="Times New Roman"/>
              </a:rPr>
              <a:t> </a:t>
            </a:r>
            <a:r>
              <a:rPr lang="en-US" sz="2186" err="1">
                <a:solidFill>
                  <a:srgbClr val="000000"/>
                </a:solidFill>
                <a:latin typeface="Times New Roman"/>
                <a:ea typeface="Times New Roman"/>
                <a:cs typeface="Times New Roman"/>
                <a:sym typeface="Times New Roman"/>
              </a:rPr>
              <a:t>içi</a:t>
            </a:r>
            <a:r>
              <a:rPr lang="en-US" sz="2186">
                <a:solidFill>
                  <a:srgbClr val="000000"/>
                </a:solidFill>
                <a:latin typeface="Times New Roman"/>
                <a:ea typeface="Times New Roman"/>
                <a:cs typeface="Times New Roman"/>
                <a:sym typeface="Times New Roman"/>
              </a:rPr>
              <a:t> </a:t>
            </a:r>
            <a:r>
              <a:rPr lang="en-US" sz="2186" err="1">
                <a:solidFill>
                  <a:srgbClr val="000000"/>
                </a:solidFill>
                <a:latin typeface="Times New Roman"/>
                <a:ea typeface="Times New Roman"/>
                <a:cs typeface="Times New Roman"/>
                <a:sym typeface="Times New Roman"/>
              </a:rPr>
              <a:t>görev</a:t>
            </a:r>
            <a:r>
              <a:rPr lang="en-US" sz="2186">
                <a:solidFill>
                  <a:srgbClr val="000000"/>
                </a:solidFill>
                <a:latin typeface="Times New Roman"/>
                <a:ea typeface="Times New Roman"/>
                <a:cs typeface="Times New Roman"/>
                <a:sym typeface="Times New Roman"/>
              </a:rPr>
              <a:t> </a:t>
            </a:r>
            <a:r>
              <a:rPr lang="en-US" sz="2186" err="1">
                <a:solidFill>
                  <a:srgbClr val="000000"/>
                </a:solidFill>
                <a:latin typeface="Times New Roman"/>
                <a:ea typeface="Times New Roman"/>
                <a:cs typeface="Times New Roman"/>
                <a:sym typeface="Times New Roman"/>
              </a:rPr>
              <a:t>dağılımı</a:t>
            </a:r>
            <a:r>
              <a:rPr lang="en-US" sz="2186">
                <a:solidFill>
                  <a:srgbClr val="000000"/>
                </a:solidFill>
                <a:latin typeface="Times New Roman"/>
                <a:ea typeface="Times New Roman"/>
                <a:cs typeface="Times New Roman"/>
                <a:sym typeface="Times New Roman"/>
              </a:rPr>
              <a:t>,</a:t>
            </a:r>
            <a:r>
              <a:rPr lang="tr-TR" sz="2186">
                <a:solidFill>
                  <a:srgbClr val="000000"/>
                </a:solidFill>
                <a:latin typeface="Times New Roman"/>
                <a:ea typeface="Times New Roman"/>
                <a:cs typeface="Times New Roman"/>
                <a:sym typeface="Times New Roman"/>
              </a:rPr>
              <a:t> </a:t>
            </a:r>
            <a:r>
              <a:rPr lang="tr-TR" sz="2186" err="1">
                <a:solidFill>
                  <a:srgbClr val="000000"/>
                </a:solidFill>
                <a:latin typeface="Times New Roman"/>
                <a:ea typeface="Times New Roman"/>
                <a:cs typeface="Times New Roman"/>
                <a:sym typeface="Times New Roman"/>
              </a:rPr>
              <a:t>Github</a:t>
            </a:r>
            <a:r>
              <a:rPr lang="tr-TR" sz="2186">
                <a:solidFill>
                  <a:srgbClr val="000000"/>
                </a:solidFill>
                <a:latin typeface="Times New Roman"/>
                <a:ea typeface="Times New Roman"/>
                <a:cs typeface="Times New Roman"/>
                <a:sym typeface="Times New Roman"/>
              </a:rPr>
              <a:t> kullanımı,</a:t>
            </a:r>
            <a:r>
              <a:rPr lang="en-US" sz="2186">
                <a:solidFill>
                  <a:srgbClr val="000000"/>
                </a:solidFill>
                <a:latin typeface="Times New Roman"/>
                <a:ea typeface="Times New Roman"/>
                <a:cs typeface="Times New Roman"/>
                <a:sym typeface="Times New Roman"/>
              </a:rPr>
              <a:t> </a:t>
            </a:r>
            <a:r>
              <a:rPr lang="en-US" sz="2186" err="1">
                <a:solidFill>
                  <a:srgbClr val="000000"/>
                </a:solidFill>
                <a:latin typeface="Times New Roman"/>
                <a:ea typeface="Times New Roman"/>
                <a:cs typeface="Times New Roman"/>
                <a:sym typeface="Times New Roman"/>
              </a:rPr>
              <a:t>iletişim</a:t>
            </a:r>
            <a:r>
              <a:rPr lang="en-US" sz="2186">
                <a:solidFill>
                  <a:srgbClr val="000000"/>
                </a:solidFill>
                <a:latin typeface="Times New Roman"/>
                <a:ea typeface="Times New Roman"/>
                <a:cs typeface="Times New Roman"/>
                <a:sym typeface="Times New Roman"/>
              </a:rPr>
              <a:t> </a:t>
            </a:r>
            <a:r>
              <a:rPr lang="en-US" sz="2186" err="1">
                <a:solidFill>
                  <a:srgbClr val="000000"/>
                </a:solidFill>
                <a:latin typeface="Times New Roman"/>
                <a:ea typeface="Times New Roman"/>
                <a:cs typeface="Times New Roman"/>
                <a:sym typeface="Times New Roman"/>
              </a:rPr>
              <a:t>ve</a:t>
            </a:r>
            <a:r>
              <a:rPr lang="en-US" sz="2186">
                <a:solidFill>
                  <a:srgbClr val="000000"/>
                </a:solidFill>
                <a:latin typeface="Times New Roman"/>
                <a:ea typeface="Times New Roman"/>
                <a:cs typeface="Times New Roman"/>
                <a:sym typeface="Times New Roman"/>
              </a:rPr>
              <a:t> </a:t>
            </a:r>
            <a:r>
              <a:rPr lang="en-US" sz="2186" err="1">
                <a:solidFill>
                  <a:srgbClr val="000000"/>
                </a:solidFill>
                <a:latin typeface="Times New Roman"/>
                <a:ea typeface="Times New Roman"/>
                <a:cs typeface="Times New Roman"/>
                <a:sym typeface="Times New Roman"/>
              </a:rPr>
              <a:t>işbirliğinin</a:t>
            </a:r>
            <a:r>
              <a:rPr lang="en-US" sz="2186">
                <a:solidFill>
                  <a:srgbClr val="000000"/>
                </a:solidFill>
                <a:latin typeface="Times New Roman"/>
                <a:ea typeface="Times New Roman"/>
                <a:cs typeface="Times New Roman"/>
                <a:sym typeface="Times New Roman"/>
              </a:rPr>
              <a:t> </a:t>
            </a:r>
            <a:r>
              <a:rPr lang="en-US" sz="2186" err="1">
                <a:solidFill>
                  <a:srgbClr val="000000"/>
                </a:solidFill>
                <a:latin typeface="Times New Roman"/>
                <a:ea typeface="Times New Roman"/>
                <a:cs typeface="Times New Roman"/>
                <a:sym typeface="Times New Roman"/>
              </a:rPr>
              <a:t>önemi</a:t>
            </a:r>
            <a:r>
              <a:rPr lang="en-US" sz="2186">
                <a:solidFill>
                  <a:srgbClr val="000000"/>
                </a:solidFill>
                <a:latin typeface="Times New Roman"/>
                <a:ea typeface="Times New Roman"/>
                <a:cs typeface="Times New Roman"/>
                <a:sym typeface="Times New Roman"/>
              </a:rPr>
              <a:t>.</a:t>
            </a:r>
          </a:p>
        </p:txBody>
      </p:sp>
      <p:sp>
        <p:nvSpPr>
          <p:cNvPr id="16" name="Freeform 16"/>
          <p:cNvSpPr/>
          <p:nvPr/>
        </p:nvSpPr>
        <p:spPr>
          <a:xfrm rot="-10800000">
            <a:off x="199419" y="1818485"/>
            <a:ext cx="545881" cy="358297"/>
          </a:xfrm>
          <a:custGeom>
            <a:avLst/>
            <a:gdLst/>
            <a:ahLst/>
            <a:cxnLst/>
            <a:rect l="l" t="t" r="r" b="b"/>
            <a:pathLst>
              <a:path w="545881" h="358297">
                <a:moveTo>
                  <a:pt x="0" y="0"/>
                </a:moveTo>
                <a:lnTo>
                  <a:pt x="545881" y="0"/>
                </a:lnTo>
                <a:lnTo>
                  <a:pt x="545881" y="358297"/>
                </a:lnTo>
                <a:lnTo>
                  <a:pt x="0" y="35829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7" name="Freeform 17"/>
          <p:cNvSpPr/>
          <p:nvPr/>
        </p:nvSpPr>
        <p:spPr>
          <a:xfrm>
            <a:off x="9748008" y="4487733"/>
            <a:ext cx="545881" cy="358297"/>
          </a:xfrm>
          <a:custGeom>
            <a:avLst/>
            <a:gdLst/>
            <a:ahLst/>
            <a:cxnLst/>
            <a:rect l="l" t="t" r="r" b="b"/>
            <a:pathLst>
              <a:path w="545881" h="358297">
                <a:moveTo>
                  <a:pt x="0" y="0"/>
                </a:moveTo>
                <a:lnTo>
                  <a:pt x="545882" y="0"/>
                </a:lnTo>
                <a:lnTo>
                  <a:pt x="545882" y="358296"/>
                </a:lnTo>
                <a:lnTo>
                  <a:pt x="0" y="35829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8" name="Freeform 18"/>
          <p:cNvSpPr/>
          <p:nvPr/>
        </p:nvSpPr>
        <p:spPr>
          <a:xfrm>
            <a:off x="14771944" y="4487733"/>
            <a:ext cx="545881" cy="358297"/>
          </a:xfrm>
          <a:custGeom>
            <a:avLst/>
            <a:gdLst/>
            <a:ahLst/>
            <a:cxnLst/>
            <a:rect l="l" t="t" r="r" b="b"/>
            <a:pathLst>
              <a:path w="545881" h="358297">
                <a:moveTo>
                  <a:pt x="0" y="0"/>
                </a:moveTo>
                <a:lnTo>
                  <a:pt x="545882" y="0"/>
                </a:lnTo>
                <a:lnTo>
                  <a:pt x="545882" y="358296"/>
                </a:lnTo>
                <a:lnTo>
                  <a:pt x="0" y="35829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9" name="Freeform 19"/>
          <p:cNvSpPr/>
          <p:nvPr/>
        </p:nvSpPr>
        <p:spPr>
          <a:xfrm rot="-10800000">
            <a:off x="5223355" y="1818485"/>
            <a:ext cx="545881" cy="358297"/>
          </a:xfrm>
          <a:custGeom>
            <a:avLst/>
            <a:gdLst/>
            <a:ahLst/>
            <a:cxnLst/>
            <a:rect l="l" t="t" r="r" b="b"/>
            <a:pathLst>
              <a:path w="545881" h="358297">
                <a:moveTo>
                  <a:pt x="0" y="0"/>
                </a:moveTo>
                <a:lnTo>
                  <a:pt x="545881" y="0"/>
                </a:lnTo>
                <a:lnTo>
                  <a:pt x="545881" y="358297"/>
                </a:lnTo>
                <a:lnTo>
                  <a:pt x="0" y="35829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0" name="Freeform 20"/>
          <p:cNvSpPr/>
          <p:nvPr/>
        </p:nvSpPr>
        <p:spPr>
          <a:xfrm rot="-10800000">
            <a:off x="10247291" y="1818485"/>
            <a:ext cx="545881" cy="358297"/>
          </a:xfrm>
          <a:custGeom>
            <a:avLst/>
            <a:gdLst/>
            <a:ahLst/>
            <a:cxnLst/>
            <a:rect l="l" t="t" r="r" b="b"/>
            <a:pathLst>
              <a:path w="545881" h="358297">
                <a:moveTo>
                  <a:pt x="0" y="0"/>
                </a:moveTo>
                <a:lnTo>
                  <a:pt x="545881" y="0"/>
                </a:lnTo>
                <a:lnTo>
                  <a:pt x="545881" y="358297"/>
                </a:lnTo>
                <a:lnTo>
                  <a:pt x="0" y="35829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1" name="Freeform 21"/>
          <p:cNvSpPr/>
          <p:nvPr/>
        </p:nvSpPr>
        <p:spPr>
          <a:xfrm>
            <a:off x="6991348" y="8808593"/>
            <a:ext cx="685150" cy="449707"/>
          </a:xfrm>
          <a:custGeom>
            <a:avLst/>
            <a:gdLst/>
            <a:ahLst/>
            <a:cxnLst/>
            <a:rect l="l" t="t" r="r" b="b"/>
            <a:pathLst>
              <a:path w="685150" h="449707">
                <a:moveTo>
                  <a:pt x="0" y="0"/>
                </a:moveTo>
                <a:lnTo>
                  <a:pt x="685149" y="0"/>
                </a:lnTo>
                <a:lnTo>
                  <a:pt x="685149" y="449707"/>
                </a:lnTo>
                <a:lnTo>
                  <a:pt x="0" y="44970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2" name="Freeform 22"/>
          <p:cNvSpPr/>
          <p:nvPr/>
        </p:nvSpPr>
        <p:spPr>
          <a:xfrm>
            <a:off x="14702310" y="8808593"/>
            <a:ext cx="685150" cy="449707"/>
          </a:xfrm>
          <a:custGeom>
            <a:avLst/>
            <a:gdLst/>
            <a:ahLst/>
            <a:cxnLst/>
            <a:rect l="l" t="t" r="r" b="b"/>
            <a:pathLst>
              <a:path w="685150" h="449707">
                <a:moveTo>
                  <a:pt x="0" y="0"/>
                </a:moveTo>
                <a:lnTo>
                  <a:pt x="685150" y="0"/>
                </a:lnTo>
                <a:lnTo>
                  <a:pt x="685150" y="449707"/>
                </a:lnTo>
                <a:lnTo>
                  <a:pt x="0" y="44970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3" name="Freeform 23"/>
          <p:cNvSpPr/>
          <p:nvPr/>
        </p:nvSpPr>
        <p:spPr>
          <a:xfrm rot="-10800000">
            <a:off x="7840747" y="4918646"/>
            <a:ext cx="685150" cy="449707"/>
          </a:xfrm>
          <a:custGeom>
            <a:avLst/>
            <a:gdLst/>
            <a:ahLst/>
            <a:cxnLst/>
            <a:rect l="l" t="t" r="r" b="b"/>
            <a:pathLst>
              <a:path w="685150" h="449707">
                <a:moveTo>
                  <a:pt x="0" y="0"/>
                </a:moveTo>
                <a:lnTo>
                  <a:pt x="685150" y="0"/>
                </a:lnTo>
                <a:lnTo>
                  <a:pt x="685150" y="449708"/>
                </a:lnTo>
                <a:lnTo>
                  <a:pt x="0" y="44970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4" name="Freeform 24"/>
          <p:cNvSpPr/>
          <p:nvPr/>
        </p:nvSpPr>
        <p:spPr>
          <a:xfrm rot="-10800000">
            <a:off x="129785" y="4918646"/>
            <a:ext cx="685150" cy="449707"/>
          </a:xfrm>
          <a:custGeom>
            <a:avLst/>
            <a:gdLst/>
            <a:ahLst/>
            <a:cxnLst/>
            <a:rect l="l" t="t" r="r" b="b"/>
            <a:pathLst>
              <a:path w="685150" h="449707">
                <a:moveTo>
                  <a:pt x="0" y="0"/>
                </a:moveTo>
                <a:lnTo>
                  <a:pt x="685150" y="0"/>
                </a:lnTo>
                <a:lnTo>
                  <a:pt x="685150" y="449708"/>
                </a:lnTo>
                <a:lnTo>
                  <a:pt x="0" y="44970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2" name="Freeform 2"/>
          <p:cNvSpPr/>
          <p:nvPr/>
        </p:nvSpPr>
        <p:spPr>
          <a:xfrm>
            <a:off x="88638" y="6833650"/>
            <a:ext cx="1415850" cy="1415850"/>
          </a:xfrm>
          <a:custGeom>
            <a:avLst/>
            <a:gdLst/>
            <a:ahLst/>
            <a:cxnLst/>
            <a:rect l="l" t="t" r="r" b="b"/>
            <a:pathLst>
              <a:path w="1415850" h="1415850">
                <a:moveTo>
                  <a:pt x="0" y="0"/>
                </a:moveTo>
                <a:lnTo>
                  <a:pt x="1415850" y="0"/>
                </a:lnTo>
                <a:lnTo>
                  <a:pt x="1415850" y="1415850"/>
                </a:lnTo>
                <a:lnTo>
                  <a:pt x="0" y="14158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3" name="Group 3"/>
          <p:cNvGrpSpPr/>
          <p:nvPr/>
        </p:nvGrpSpPr>
        <p:grpSpPr>
          <a:xfrm rot="4937004">
            <a:off x="-5434039" y="-3111898"/>
            <a:ext cx="8771999" cy="8793985"/>
            <a:chOff x="0" y="0"/>
            <a:chExt cx="11698904" cy="11728225"/>
          </a:xfrm>
        </p:grpSpPr>
        <p:sp>
          <p:nvSpPr>
            <p:cNvPr id="4" name="Freeform 4"/>
            <p:cNvSpPr/>
            <p:nvPr/>
          </p:nvSpPr>
          <p:spPr>
            <a:xfrm>
              <a:off x="0" y="0"/>
              <a:ext cx="11698859" cy="11728196"/>
            </a:xfrm>
            <a:custGeom>
              <a:avLst/>
              <a:gdLst/>
              <a:ahLst/>
              <a:cxnLst/>
              <a:rect l="l" t="t" r="r" b="b"/>
              <a:pathLst>
                <a:path w="11698859" h="11728196">
                  <a:moveTo>
                    <a:pt x="0" y="0"/>
                  </a:moveTo>
                  <a:lnTo>
                    <a:pt x="11698859" y="0"/>
                  </a:lnTo>
                  <a:lnTo>
                    <a:pt x="11698859" y="11728196"/>
                  </a:lnTo>
                  <a:lnTo>
                    <a:pt x="0" y="11728196"/>
                  </a:lnTo>
                  <a:lnTo>
                    <a:pt x="0" y="0"/>
                  </a:lnTo>
                  <a:close/>
                </a:path>
              </a:pathLst>
            </a:custGeom>
            <a:blipFill>
              <a:blip r:embed="rId5"/>
              <a:stretch>
                <a:fillRect t="-1" b="-1"/>
              </a:stretch>
            </a:blipFill>
          </p:spPr>
          <p:txBody>
            <a:bodyPr/>
            <a:lstStyle/>
            <a:p>
              <a:endParaRPr lang="en-US"/>
            </a:p>
          </p:txBody>
        </p:sp>
      </p:grpSp>
      <p:sp>
        <p:nvSpPr>
          <p:cNvPr id="5" name="TextBox 5"/>
          <p:cNvSpPr txBox="1"/>
          <p:nvPr/>
        </p:nvSpPr>
        <p:spPr>
          <a:xfrm>
            <a:off x="4431370" y="1142220"/>
            <a:ext cx="11626773" cy="1024319"/>
          </a:xfrm>
          <a:prstGeom prst="rect">
            <a:avLst/>
          </a:prstGeom>
        </p:spPr>
        <p:txBody>
          <a:bodyPr lIns="0" tIns="0" rIns="0" bIns="0" rtlCol="0" anchor="t">
            <a:spAutoFit/>
          </a:bodyPr>
          <a:lstStyle/>
          <a:p>
            <a:pPr algn="ctr">
              <a:lnSpc>
                <a:spcPts val="8120"/>
              </a:lnSpc>
            </a:pPr>
            <a:r>
              <a:rPr lang="en-US" sz="5800" b="1">
                <a:solidFill>
                  <a:srgbClr val="D322FF"/>
                </a:solidFill>
                <a:latin typeface="Arimo Bold"/>
                <a:ea typeface="Arimo Bold"/>
                <a:cs typeface="Arimo Bold"/>
                <a:sym typeface="Arimo Bold"/>
              </a:rPr>
              <a:t>ShopEase'in Gelecek Potansiyeli</a:t>
            </a:r>
          </a:p>
        </p:txBody>
      </p:sp>
      <p:sp>
        <p:nvSpPr>
          <p:cNvPr id="6" name="TextBox 6"/>
          <p:cNvSpPr txBox="1"/>
          <p:nvPr/>
        </p:nvSpPr>
        <p:spPr>
          <a:xfrm>
            <a:off x="4727818" y="2970235"/>
            <a:ext cx="12317857" cy="3537045"/>
          </a:xfrm>
          <a:prstGeom prst="rect">
            <a:avLst/>
          </a:prstGeom>
        </p:spPr>
        <p:txBody>
          <a:bodyPr lIns="0" tIns="0" rIns="0" bIns="0" rtlCol="0" anchor="t">
            <a:spAutoFit/>
          </a:bodyPr>
          <a:lstStyle/>
          <a:p>
            <a:pPr algn="l">
              <a:lnSpc>
                <a:spcPts val="3477"/>
              </a:lnSpc>
              <a:spcBef>
                <a:spcPct val="0"/>
              </a:spcBef>
            </a:pPr>
            <a:r>
              <a:rPr lang="en-US" sz="2483" b="1" err="1">
                <a:solidFill>
                  <a:srgbClr val="101010"/>
                </a:solidFill>
                <a:latin typeface="Times New Roman Bold"/>
                <a:ea typeface="Times New Roman Bold"/>
                <a:cs typeface="Times New Roman Bold"/>
                <a:sym typeface="Times New Roman Bold"/>
              </a:rPr>
              <a:t>Ödeme</a:t>
            </a:r>
            <a:r>
              <a:rPr lang="en-US" sz="2483" b="1">
                <a:solidFill>
                  <a:srgbClr val="101010"/>
                </a:solidFill>
                <a:latin typeface="Times New Roman Bold"/>
                <a:ea typeface="Times New Roman Bold"/>
                <a:cs typeface="Times New Roman Bold"/>
                <a:sym typeface="Times New Roman Bold"/>
              </a:rPr>
              <a:t> </a:t>
            </a:r>
            <a:r>
              <a:rPr lang="en-US" sz="2483" b="1" err="1">
                <a:solidFill>
                  <a:srgbClr val="101010"/>
                </a:solidFill>
                <a:latin typeface="Times New Roman Bold"/>
                <a:ea typeface="Times New Roman Bold"/>
                <a:cs typeface="Times New Roman Bold"/>
                <a:sym typeface="Times New Roman Bold"/>
              </a:rPr>
              <a:t>Sistemi</a:t>
            </a:r>
            <a:r>
              <a:rPr lang="en-US" sz="2483" b="1">
                <a:solidFill>
                  <a:srgbClr val="101010"/>
                </a:solidFill>
                <a:latin typeface="Times New Roman Bold"/>
                <a:ea typeface="Times New Roman Bold"/>
                <a:cs typeface="Times New Roman Bold"/>
                <a:sym typeface="Times New Roman Bold"/>
              </a:rPr>
              <a:t> </a:t>
            </a:r>
            <a:r>
              <a:rPr lang="en-US" sz="2483" b="1" err="1">
                <a:solidFill>
                  <a:srgbClr val="101010"/>
                </a:solidFill>
                <a:latin typeface="Times New Roman Bold"/>
                <a:ea typeface="Times New Roman Bold"/>
                <a:cs typeface="Times New Roman Bold"/>
                <a:sym typeface="Times New Roman Bold"/>
              </a:rPr>
              <a:t>Entegrasyonu</a:t>
            </a:r>
            <a:r>
              <a:rPr lang="en-US" sz="2483" b="1">
                <a:solidFill>
                  <a:srgbClr val="101010"/>
                </a:solidFill>
                <a:latin typeface="Times New Roman Bold"/>
                <a:ea typeface="Times New Roman Bold"/>
                <a:cs typeface="Times New Roman Bold"/>
                <a:sym typeface="Times New Roman Bold"/>
              </a:rPr>
              <a:t>:</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iyzico</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gibi</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popüler</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ödeme</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ağ</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geçitleri</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ile</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sorunsuz</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entegrasyon</a:t>
            </a:r>
            <a:r>
              <a:rPr lang="en-US" sz="2483">
                <a:solidFill>
                  <a:srgbClr val="101010"/>
                </a:solidFill>
                <a:latin typeface="Times New Roman"/>
                <a:ea typeface="Times New Roman"/>
                <a:cs typeface="Times New Roman"/>
                <a:sym typeface="Times New Roman"/>
              </a:rPr>
              <a:t>.</a:t>
            </a:r>
          </a:p>
          <a:p>
            <a:pPr algn="l">
              <a:lnSpc>
                <a:spcPts val="3477"/>
              </a:lnSpc>
              <a:spcBef>
                <a:spcPct val="0"/>
              </a:spcBef>
            </a:pPr>
            <a:endParaRPr lang="en-US" sz="2483">
              <a:solidFill>
                <a:srgbClr val="101010"/>
              </a:solidFill>
              <a:latin typeface="Times New Roman"/>
              <a:ea typeface="Times New Roman"/>
              <a:cs typeface="Times New Roman"/>
              <a:sym typeface="Times New Roman"/>
            </a:endParaRPr>
          </a:p>
          <a:p>
            <a:pPr algn="l">
              <a:lnSpc>
                <a:spcPts val="3477"/>
              </a:lnSpc>
              <a:spcBef>
                <a:spcPct val="0"/>
              </a:spcBef>
            </a:pPr>
            <a:r>
              <a:rPr lang="en-US" sz="2483" b="1" err="1">
                <a:solidFill>
                  <a:srgbClr val="101010"/>
                </a:solidFill>
                <a:latin typeface="Times New Roman Bold"/>
                <a:ea typeface="Times New Roman Bold"/>
                <a:cs typeface="Times New Roman Bold"/>
                <a:sym typeface="Times New Roman Bold"/>
              </a:rPr>
              <a:t>İndirim</a:t>
            </a:r>
            <a:r>
              <a:rPr lang="en-US" sz="2483" b="1">
                <a:solidFill>
                  <a:srgbClr val="101010"/>
                </a:solidFill>
                <a:latin typeface="Times New Roman Bold"/>
                <a:ea typeface="Times New Roman Bold"/>
                <a:cs typeface="Times New Roman Bold"/>
                <a:sym typeface="Times New Roman Bold"/>
              </a:rPr>
              <a:t> &amp; </a:t>
            </a:r>
            <a:r>
              <a:rPr lang="en-US" sz="2483" b="1" err="1">
                <a:solidFill>
                  <a:srgbClr val="101010"/>
                </a:solidFill>
                <a:latin typeface="Times New Roman Bold"/>
                <a:ea typeface="Times New Roman Bold"/>
                <a:cs typeface="Times New Roman Bold"/>
                <a:sym typeface="Times New Roman Bold"/>
              </a:rPr>
              <a:t>Hediye</a:t>
            </a:r>
            <a:r>
              <a:rPr lang="en-US" sz="2483" b="1">
                <a:solidFill>
                  <a:srgbClr val="101010"/>
                </a:solidFill>
                <a:latin typeface="Times New Roman Bold"/>
                <a:ea typeface="Times New Roman Bold"/>
                <a:cs typeface="Times New Roman Bold"/>
                <a:sym typeface="Times New Roman Bold"/>
              </a:rPr>
              <a:t> </a:t>
            </a:r>
            <a:r>
              <a:rPr lang="en-US" sz="2483" b="1" err="1">
                <a:solidFill>
                  <a:srgbClr val="101010"/>
                </a:solidFill>
                <a:latin typeface="Times New Roman Bold"/>
                <a:ea typeface="Times New Roman Bold"/>
                <a:cs typeface="Times New Roman Bold"/>
                <a:sym typeface="Times New Roman Bold"/>
              </a:rPr>
              <a:t>Kuponları</a:t>
            </a:r>
            <a:r>
              <a:rPr lang="en-US" sz="2483" b="1">
                <a:solidFill>
                  <a:srgbClr val="101010"/>
                </a:solidFill>
                <a:latin typeface="Times New Roman Bold"/>
                <a:ea typeface="Times New Roman Bold"/>
                <a:cs typeface="Times New Roman Bold"/>
                <a:sym typeface="Times New Roman Bold"/>
              </a:rPr>
              <a:t>:</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Sepet</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için</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indirim</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kuponları</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ve</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hediye</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çeki</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modülleri</a:t>
            </a:r>
            <a:r>
              <a:rPr lang="en-US" sz="2483">
                <a:solidFill>
                  <a:srgbClr val="101010"/>
                </a:solidFill>
                <a:latin typeface="Times New Roman"/>
                <a:ea typeface="Times New Roman"/>
                <a:cs typeface="Times New Roman"/>
                <a:sym typeface="Times New Roman"/>
              </a:rPr>
              <a:t>.</a:t>
            </a:r>
          </a:p>
          <a:p>
            <a:pPr algn="l">
              <a:lnSpc>
                <a:spcPts val="3477"/>
              </a:lnSpc>
              <a:spcBef>
                <a:spcPct val="0"/>
              </a:spcBef>
            </a:pPr>
            <a:endParaRPr lang="en-US" sz="2483">
              <a:solidFill>
                <a:srgbClr val="101010"/>
              </a:solidFill>
              <a:latin typeface="Times New Roman"/>
              <a:ea typeface="Times New Roman"/>
              <a:cs typeface="Times New Roman"/>
              <a:sym typeface="Times New Roman"/>
            </a:endParaRPr>
          </a:p>
          <a:p>
            <a:pPr algn="l">
              <a:lnSpc>
                <a:spcPts val="3477"/>
              </a:lnSpc>
              <a:spcBef>
                <a:spcPct val="0"/>
              </a:spcBef>
            </a:pPr>
            <a:r>
              <a:rPr lang="en-US" sz="2483" b="1">
                <a:solidFill>
                  <a:srgbClr val="101010"/>
                </a:solidFill>
                <a:latin typeface="Times New Roman Bold"/>
                <a:ea typeface="Times New Roman Bold"/>
                <a:cs typeface="Times New Roman Bold"/>
                <a:sym typeface="Times New Roman Bold"/>
              </a:rPr>
              <a:t>Kargo </a:t>
            </a:r>
            <a:r>
              <a:rPr lang="en-US" sz="2483" b="1" err="1">
                <a:solidFill>
                  <a:srgbClr val="101010"/>
                </a:solidFill>
                <a:latin typeface="Times New Roman Bold"/>
                <a:ea typeface="Times New Roman Bold"/>
                <a:cs typeface="Times New Roman Bold"/>
                <a:sym typeface="Times New Roman Bold"/>
              </a:rPr>
              <a:t>Altyapısı</a:t>
            </a:r>
            <a:r>
              <a:rPr lang="en-US" sz="2483" b="1">
                <a:solidFill>
                  <a:srgbClr val="101010"/>
                </a:solidFill>
                <a:latin typeface="Times New Roman Bold"/>
                <a:ea typeface="Times New Roman Bold"/>
                <a:cs typeface="Times New Roman Bold"/>
                <a:sym typeface="Times New Roman Bold"/>
              </a:rPr>
              <a:t>: </a:t>
            </a:r>
            <a:r>
              <a:rPr lang="en-US" sz="2483">
                <a:solidFill>
                  <a:srgbClr val="101010"/>
                </a:solidFill>
                <a:latin typeface="Times New Roman"/>
                <a:ea typeface="Times New Roman"/>
                <a:cs typeface="Times New Roman"/>
                <a:sym typeface="Times New Roman"/>
              </a:rPr>
              <a:t>Kargo </a:t>
            </a:r>
            <a:r>
              <a:rPr lang="en-US" sz="2483" err="1">
                <a:solidFill>
                  <a:srgbClr val="101010"/>
                </a:solidFill>
                <a:latin typeface="Times New Roman"/>
                <a:ea typeface="Times New Roman"/>
                <a:cs typeface="Times New Roman"/>
                <a:sym typeface="Times New Roman"/>
              </a:rPr>
              <a:t>altyapısının</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sistemlere</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entegre</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edilmesi</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ve</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kargo</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firmalarıyla</a:t>
            </a:r>
            <a:r>
              <a:rPr lang="en-US" sz="2483">
                <a:solidFill>
                  <a:srgbClr val="101010"/>
                </a:solidFill>
                <a:latin typeface="Times New Roman"/>
                <a:ea typeface="Times New Roman"/>
                <a:cs typeface="Times New Roman"/>
                <a:sym typeface="Times New Roman"/>
              </a:rPr>
              <a:t> </a:t>
            </a:r>
            <a:r>
              <a:rPr lang="en-US" sz="2483" err="1">
                <a:solidFill>
                  <a:srgbClr val="101010"/>
                </a:solidFill>
                <a:latin typeface="Times New Roman"/>
                <a:ea typeface="Times New Roman"/>
                <a:cs typeface="Times New Roman"/>
                <a:sym typeface="Times New Roman"/>
              </a:rPr>
              <a:t>anlaşma</a:t>
            </a:r>
            <a:r>
              <a:rPr lang="en-US" sz="2483">
                <a:solidFill>
                  <a:srgbClr val="101010"/>
                </a:solidFill>
                <a:latin typeface="Times New Roman"/>
                <a:ea typeface="Times New Roman"/>
                <a:cs typeface="Times New Roman"/>
                <a:sym typeface="Times New Roman"/>
              </a:rPr>
              <a:t>.</a:t>
            </a:r>
          </a:p>
          <a:p>
            <a:pPr algn="ctr">
              <a:lnSpc>
                <a:spcPts val="3477"/>
              </a:lnSpc>
              <a:spcBef>
                <a:spcPct val="0"/>
              </a:spcBef>
            </a:pPr>
            <a:endParaRPr lang="en-US" sz="2483">
              <a:solidFill>
                <a:srgbClr val="101010"/>
              </a:solidFill>
              <a:latin typeface="Times New Roman"/>
              <a:ea typeface="Times New Roman"/>
              <a:cs typeface="Times New Roman"/>
              <a:sym typeface="Times New Roman"/>
            </a:endParaRPr>
          </a:p>
        </p:txBody>
      </p:sp>
      <p:sp>
        <p:nvSpPr>
          <p:cNvPr id="7" name="Freeform 7"/>
          <p:cNvSpPr/>
          <p:nvPr/>
        </p:nvSpPr>
        <p:spPr>
          <a:xfrm>
            <a:off x="4530339" y="3103600"/>
            <a:ext cx="197479" cy="197479"/>
          </a:xfrm>
          <a:custGeom>
            <a:avLst/>
            <a:gdLst/>
            <a:ahLst/>
            <a:cxnLst/>
            <a:rect l="l" t="t" r="r" b="b"/>
            <a:pathLst>
              <a:path w="197479" h="197479">
                <a:moveTo>
                  <a:pt x="0" y="0"/>
                </a:moveTo>
                <a:lnTo>
                  <a:pt x="197479" y="0"/>
                </a:lnTo>
                <a:lnTo>
                  <a:pt x="197479" y="197479"/>
                </a:lnTo>
                <a:lnTo>
                  <a:pt x="0" y="1974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a:off x="4530339" y="3993896"/>
            <a:ext cx="197479" cy="197479"/>
          </a:xfrm>
          <a:custGeom>
            <a:avLst/>
            <a:gdLst/>
            <a:ahLst/>
            <a:cxnLst/>
            <a:rect l="l" t="t" r="r" b="b"/>
            <a:pathLst>
              <a:path w="197479" h="197479">
                <a:moveTo>
                  <a:pt x="0" y="0"/>
                </a:moveTo>
                <a:lnTo>
                  <a:pt x="197479" y="0"/>
                </a:lnTo>
                <a:lnTo>
                  <a:pt x="197479" y="197479"/>
                </a:lnTo>
                <a:lnTo>
                  <a:pt x="0" y="1974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4530267" y="4892296"/>
            <a:ext cx="197479" cy="197479"/>
          </a:xfrm>
          <a:custGeom>
            <a:avLst/>
            <a:gdLst/>
            <a:ahLst/>
            <a:cxnLst/>
            <a:rect l="l" t="t" r="r" b="b"/>
            <a:pathLst>
              <a:path w="197479" h="197479">
                <a:moveTo>
                  <a:pt x="0" y="0"/>
                </a:moveTo>
                <a:lnTo>
                  <a:pt x="197479" y="0"/>
                </a:lnTo>
                <a:lnTo>
                  <a:pt x="197479" y="197479"/>
                </a:lnTo>
                <a:lnTo>
                  <a:pt x="0" y="1974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6933389" y="7089843"/>
            <a:ext cx="4421221" cy="4421221"/>
          </a:xfrm>
          <a:custGeom>
            <a:avLst/>
            <a:gdLst/>
            <a:ahLst/>
            <a:cxnLst/>
            <a:rect l="l" t="t" r="r" b="b"/>
            <a:pathLst>
              <a:path w="4421221" h="4421221">
                <a:moveTo>
                  <a:pt x="0" y="0"/>
                </a:moveTo>
                <a:lnTo>
                  <a:pt x="4421221" y="0"/>
                </a:lnTo>
                <a:lnTo>
                  <a:pt x="4421221" y="4421221"/>
                </a:lnTo>
                <a:lnTo>
                  <a:pt x="0" y="44212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0" y="7406017"/>
            <a:ext cx="5299467" cy="2880983"/>
          </a:xfrm>
          <a:custGeom>
            <a:avLst/>
            <a:gdLst/>
            <a:ahLst/>
            <a:cxnLst/>
            <a:rect l="l" t="t" r="r" b="b"/>
            <a:pathLst>
              <a:path w="5299467" h="2880983">
                <a:moveTo>
                  <a:pt x="0" y="0"/>
                </a:moveTo>
                <a:lnTo>
                  <a:pt x="5299467" y="0"/>
                </a:lnTo>
                <a:lnTo>
                  <a:pt x="5299467" y="2880983"/>
                </a:lnTo>
                <a:lnTo>
                  <a:pt x="0" y="2880983"/>
                </a:lnTo>
                <a:lnTo>
                  <a:pt x="0" y="0"/>
                </a:lnTo>
                <a:close/>
              </a:path>
            </a:pathLst>
          </a:custGeom>
          <a:blipFill>
            <a:blip r:embed="rId4">
              <a:extLst>
                <a:ext uri="{96DAC541-7B7A-43D3-8B79-37D633B846F1}">
                  <asvg:svgBlip xmlns:asvg="http://schemas.microsoft.com/office/drawing/2016/SVG/main" r:embed="rId5"/>
                </a:ext>
              </a:extLst>
            </a:blip>
            <a:stretch>
              <a:fillRect t="-362" b="-362"/>
            </a:stretch>
          </a:blipFill>
        </p:spPr>
        <p:txBody>
          <a:bodyPr/>
          <a:lstStyle/>
          <a:p>
            <a:endParaRPr lang="en-US"/>
          </a:p>
        </p:txBody>
      </p:sp>
      <p:sp>
        <p:nvSpPr>
          <p:cNvPr id="4" name="TextBox 4"/>
          <p:cNvSpPr txBox="1"/>
          <p:nvPr/>
        </p:nvSpPr>
        <p:spPr>
          <a:xfrm>
            <a:off x="4382302" y="3032431"/>
            <a:ext cx="9523396" cy="2453730"/>
          </a:xfrm>
          <a:prstGeom prst="rect">
            <a:avLst/>
          </a:prstGeom>
        </p:spPr>
        <p:txBody>
          <a:bodyPr lIns="0" tIns="0" rIns="0" bIns="0" rtlCol="0" anchor="t">
            <a:spAutoFit/>
          </a:bodyPr>
          <a:lstStyle/>
          <a:p>
            <a:pPr algn="ctr">
              <a:lnSpc>
                <a:spcPts val="19622"/>
              </a:lnSpc>
            </a:pPr>
            <a:r>
              <a:rPr lang="en-US" sz="14015" b="1" spc="-560">
                <a:solidFill>
                  <a:srgbClr val="B100E8"/>
                </a:solidFill>
                <a:latin typeface="Arimo Bold"/>
                <a:ea typeface="Arimo Bold"/>
                <a:cs typeface="Arimo Bold"/>
                <a:sym typeface="Arimo Bold"/>
              </a:rPr>
              <a:t>Teşekkürler</a:t>
            </a:r>
          </a:p>
        </p:txBody>
      </p:sp>
      <p:sp>
        <p:nvSpPr>
          <p:cNvPr id="5" name="Freeform 5"/>
          <p:cNvSpPr/>
          <p:nvPr/>
        </p:nvSpPr>
        <p:spPr>
          <a:xfrm flipH="1">
            <a:off x="12988533" y="7406017"/>
            <a:ext cx="5299467" cy="2880983"/>
          </a:xfrm>
          <a:custGeom>
            <a:avLst/>
            <a:gdLst/>
            <a:ahLst/>
            <a:cxnLst/>
            <a:rect l="l" t="t" r="r" b="b"/>
            <a:pathLst>
              <a:path w="5299467" h="2880983">
                <a:moveTo>
                  <a:pt x="5299467" y="0"/>
                </a:moveTo>
                <a:lnTo>
                  <a:pt x="0" y="0"/>
                </a:lnTo>
                <a:lnTo>
                  <a:pt x="0" y="2880983"/>
                </a:lnTo>
                <a:lnTo>
                  <a:pt x="5299467" y="2880983"/>
                </a:lnTo>
                <a:lnTo>
                  <a:pt x="5299467" y="0"/>
                </a:lnTo>
                <a:close/>
              </a:path>
            </a:pathLst>
          </a:custGeom>
          <a:blipFill>
            <a:blip r:embed="rId4">
              <a:extLst>
                <a:ext uri="{96DAC541-7B7A-43D3-8B79-37D633B846F1}">
                  <asvg:svgBlip xmlns:asvg="http://schemas.microsoft.com/office/drawing/2016/SVG/main" r:embed="rId5"/>
                </a:ext>
              </a:extLst>
            </a:blip>
            <a:stretch>
              <a:fillRect t="-362" b="-362"/>
            </a:stretch>
          </a:blipFill>
        </p:spPr>
        <p:txBody>
          <a:bodyPr/>
          <a:lstStyle/>
          <a:p>
            <a:endParaRPr lang="en-US"/>
          </a:p>
        </p:txBody>
      </p:sp>
      <p:sp>
        <p:nvSpPr>
          <p:cNvPr id="6" name="Freeform 6"/>
          <p:cNvSpPr/>
          <p:nvPr/>
        </p:nvSpPr>
        <p:spPr>
          <a:xfrm rot="5400000">
            <a:off x="1029922" y="-155153"/>
            <a:ext cx="4421221" cy="4421221"/>
          </a:xfrm>
          <a:custGeom>
            <a:avLst/>
            <a:gdLst/>
            <a:ahLst/>
            <a:cxnLst/>
            <a:rect l="l" t="t" r="r" b="b"/>
            <a:pathLst>
              <a:path w="4421221" h="4421221">
                <a:moveTo>
                  <a:pt x="0" y="0"/>
                </a:moveTo>
                <a:lnTo>
                  <a:pt x="4421221" y="0"/>
                </a:lnTo>
                <a:lnTo>
                  <a:pt x="4421221" y="4421221"/>
                </a:lnTo>
                <a:lnTo>
                  <a:pt x="0" y="442122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7" name="Freeform 7"/>
          <p:cNvSpPr/>
          <p:nvPr/>
        </p:nvSpPr>
        <p:spPr>
          <a:xfrm rot="5400000">
            <a:off x="12838079" y="0"/>
            <a:ext cx="4421221" cy="4421221"/>
          </a:xfrm>
          <a:custGeom>
            <a:avLst/>
            <a:gdLst/>
            <a:ahLst/>
            <a:cxnLst/>
            <a:rect l="l" t="t" r="r" b="b"/>
            <a:pathLst>
              <a:path w="4421221" h="4421221">
                <a:moveTo>
                  <a:pt x="0" y="0"/>
                </a:moveTo>
                <a:lnTo>
                  <a:pt x="4421221" y="0"/>
                </a:lnTo>
                <a:lnTo>
                  <a:pt x="4421221" y="4421221"/>
                </a:lnTo>
                <a:lnTo>
                  <a:pt x="0" y="442122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8" name="TextBox 8"/>
          <p:cNvSpPr txBox="1"/>
          <p:nvPr/>
        </p:nvSpPr>
        <p:spPr>
          <a:xfrm>
            <a:off x="6560500" y="7358392"/>
            <a:ext cx="5167001" cy="2612776"/>
          </a:xfrm>
          <a:prstGeom prst="rect">
            <a:avLst/>
          </a:prstGeom>
        </p:spPr>
        <p:txBody>
          <a:bodyPr lIns="0" tIns="0" rIns="0" bIns="0" rtlCol="0" anchor="t">
            <a:spAutoFit/>
          </a:bodyPr>
          <a:lstStyle/>
          <a:p>
            <a:pPr algn="ctr">
              <a:lnSpc>
                <a:spcPts val="3499"/>
              </a:lnSpc>
            </a:pPr>
            <a:r>
              <a:rPr lang="en-US" sz="2499" spc="-97">
                <a:solidFill>
                  <a:srgbClr val="000000"/>
                </a:solidFill>
                <a:latin typeface="Bricolage Grotesque"/>
                <a:ea typeface="Bricolage Grotesque"/>
                <a:cs typeface="Bricolage Grotesque"/>
                <a:sym typeface="Bricolage Grotesque"/>
              </a:rPr>
              <a:t>Mehmet Zahit Uyanık</a:t>
            </a:r>
          </a:p>
          <a:p>
            <a:pPr algn="ctr">
              <a:lnSpc>
                <a:spcPts val="3499"/>
              </a:lnSpc>
            </a:pPr>
            <a:r>
              <a:rPr lang="en-US" sz="2499" spc="-97">
                <a:solidFill>
                  <a:srgbClr val="000000"/>
                </a:solidFill>
                <a:latin typeface="Bricolage Grotesque"/>
                <a:ea typeface="Bricolage Grotesque"/>
                <a:cs typeface="Bricolage Grotesque"/>
                <a:sym typeface="Bricolage Grotesque"/>
              </a:rPr>
              <a:t>Metehan Dündar</a:t>
            </a:r>
          </a:p>
          <a:p>
            <a:pPr algn="ctr">
              <a:lnSpc>
                <a:spcPts val="3499"/>
              </a:lnSpc>
            </a:pPr>
            <a:r>
              <a:rPr lang="en-US" sz="2499" spc="-97">
                <a:solidFill>
                  <a:srgbClr val="000000"/>
                </a:solidFill>
                <a:latin typeface="Bricolage Grotesque"/>
                <a:ea typeface="Bricolage Grotesque"/>
                <a:cs typeface="Bricolage Grotesque"/>
                <a:sym typeface="Bricolage Grotesque"/>
              </a:rPr>
              <a:t>Büşra Çoğul</a:t>
            </a:r>
          </a:p>
          <a:p>
            <a:pPr algn="ctr">
              <a:lnSpc>
                <a:spcPts val="3499"/>
              </a:lnSpc>
            </a:pPr>
            <a:r>
              <a:rPr lang="en-US" sz="2499" spc="-97">
                <a:solidFill>
                  <a:srgbClr val="000000"/>
                </a:solidFill>
                <a:latin typeface="Bricolage Grotesque"/>
                <a:ea typeface="Bricolage Grotesque"/>
                <a:cs typeface="Bricolage Grotesque"/>
                <a:sym typeface="Bricolage Grotesque"/>
              </a:rPr>
              <a:t>Harun İder</a:t>
            </a:r>
          </a:p>
          <a:p>
            <a:pPr algn="ctr">
              <a:lnSpc>
                <a:spcPts val="3499"/>
              </a:lnSpc>
            </a:pPr>
            <a:r>
              <a:rPr lang="en-US" sz="2499" spc="-97">
                <a:solidFill>
                  <a:srgbClr val="000000"/>
                </a:solidFill>
                <a:latin typeface="Bricolage Grotesque"/>
                <a:ea typeface="Bricolage Grotesque"/>
                <a:cs typeface="Bricolage Grotesque"/>
                <a:sym typeface="Bricolage Grotesque"/>
              </a:rPr>
              <a:t>Gülendam Çetin</a:t>
            </a:r>
          </a:p>
          <a:p>
            <a:pPr algn="ctr">
              <a:lnSpc>
                <a:spcPts val="3500"/>
              </a:lnSpc>
            </a:pPr>
            <a:r>
              <a:rPr lang="en-US" sz="2499" spc="-99">
                <a:solidFill>
                  <a:srgbClr val="000000"/>
                </a:solidFill>
                <a:latin typeface="Bricolage Grotesque"/>
                <a:ea typeface="Bricolage Grotesque"/>
                <a:cs typeface="Bricolage Grotesque"/>
                <a:sym typeface="Bricolage Grotesque"/>
              </a:rPr>
              <a:t>Elif Yılmaz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Özel</PresentationFormat>
  <Slides>13</Slides>
  <Notes>12</Notes>
  <HiddenSlides>0</HiddenSlides>
  <ScaleCrop>false</ScaleCrop>
  <HeadingPairs>
    <vt:vector size="4" baseType="variant">
      <vt:variant>
        <vt:lpstr>Tema</vt:lpstr>
      </vt:variant>
      <vt:variant>
        <vt:i4>1</vt:i4>
      </vt:variant>
      <vt:variant>
        <vt:lpstr>Slayt Başlıkları</vt:lpstr>
      </vt:variant>
      <vt:variant>
        <vt:i4>13</vt:i4>
      </vt:variant>
    </vt:vector>
  </HeadingPairs>
  <TitlesOfParts>
    <vt:vector size="14" baseType="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XYZ Sunum</dc:title>
  <cp:revision>4</cp:revision>
  <dcterms:created xsi:type="dcterms:W3CDTF">2006-08-16T00:00:00Z</dcterms:created>
  <dcterms:modified xsi:type="dcterms:W3CDTF">2025-09-01T14:24:01Z</dcterms:modified>
  <dc:identifier>DAGxWc80Bn4</dc:identifier>
</cp:coreProperties>
</file>